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5205f3389f4cbe" /><Relationship Type="http://schemas.openxmlformats.org/officeDocument/2006/relationships/extended-properties" Target="/docProps/app.xml" Id="R169892e721864db4" /><Relationship Type="http://schemas.openxmlformats.org/officeDocument/2006/relationships/officeDocument" Target="/ppt/presentation.xml" Id="Rb688aa31ec8845bf" /></Relationships>
</file>

<file path=ppt/presentation.xml><?xml version="1.0" encoding="utf-8"?>
<p:presentation xmlns:p="http://schemas.openxmlformats.org/presentationml/2006/main">
  <p:sldMasterIdLst>
    <p:sldMasterId xmlns:r="http://schemas.openxmlformats.org/officeDocument/2006/relationships" id="2147483648" r:id="Rf031168411724064"/>
  </p:sldMasterIdLst>
  <p:notesMasterIdLst>
    <p:notesMasterId xmlns:r="http://schemas.openxmlformats.org/officeDocument/2006/relationships" r:id="R2909b820669644c7"/>
  </p:notesMasterIdLst>
  <p:sldIdLst>
    <p:sldId xmlns:r="http://schemas.openxmlformats.org/officeDocument/2006/relationships" id="256" r:id="R2c5611c3a4c04fe7"/>
    <p:sldId xmlns:r="http://schemas.openxmlformats.org/officeDocument/2006/relationships" id="257" r:id="R47aff6f16da5410a"/>
    <p:sldId xmlns:r="http://schemas.openxmlformats.org/officeDocument/2006/relationships" id="258" r:id="R572d6a4dd32a4a68"/>
    <p:sldId xmlns:r="http://schemas.openxmlformats.org/officeDocument/2006/relationships" id="259" r:id="R833da930a9a84450"/>
    <p:sldId xmlns:r="http://schemas.openxmlformats.org/officeDocument/2006/relationships" id="260" r:id="Rf9922518cad54fed"/>
    <p:sldId xmlns:r="http://schemas.openxmlformats.org/officeDocument/2006/relationships" id="261" r:id="R322952ee116946b1"/>
    <p:sldId xmlns:r="http://schemas.openxmlformats.org/officeDocument/2006/relationships" id="262" r:id="Re79dc0ec0b0c4803"/>
    <p:sldId xmlns:r="http://schemas.openxmlformats.org/officeDocument/2006/relationships" id="263" r:id="R608da1598e3740b8"/>
    <p:sldId xmlns:r="http://schemas.openxmlformats.org/officeDocument/2006/relationships" id="264" r:id="R2dfe7210d37f4fa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e92d0e29134736" /><Relationship Type="http://schemas.openxmlformats.org/officeDocument/2006/relationships/slideMaster" Target="/ppt/slideMasters/slideMaster1.xml" Id="Rf031168411724064" /><Relationship Type="http://schemas.openxmlformats.org/officeDocument/2006/relationships/notesMaster" Target="/ppt/notesMasters/notesMaster1.xml" Id="R2909b820669644c7" /><Relationship Type="http://schemas.openxmlformats.org/officeDocument/2006/relationships/presProps" Target="/ppt/presProps.xml" Id="R1ec564f5c31f429b" /><Relationship Type="http://schemas.openxmlformats.org/officeDocument/2006/relationships/tableStyles" Target="/ppt/tableStyles.xml" Id="R15ca716cf41149eb" /><Relationship Type="http://schemas.openxmlformats.org/officeDocument/2006/relationships/slide" Target="/ppt/slides/slide1.xml" Id="R2c5611c3a4c04fe7" /><Relationship Type="http://schemas.openxmlformats.org/officeDocument/2006/relationships/slide" Target="/ppt/slides/slide2.xml" Id="R47aff6f16da5410a" /><Relationship Type="http://schemas.openxmlformats.org/officeDocument/2006/relationships/slide" Target="/ppt/slides/slide3.xml" Id="R572d6a4dd32a4a68" /><Relationship Type="http://schemas.openxmlformats.org/officeDocument/2006/relationships/slide" Target="/ppt/slides/slide4.xml" Id="R833da930a9a84450" /><Relationship Type="http://schemas.openxmlformats.org/officeDocument/2006/relationships/slide" Target="/ppt/slides/slide5.xml" Id="Rf9922518cad54fed" /><Relationship Type="http://schemas.openxmlformats.org/officeDocument/2006/relationships/slide" Target="/ppt/slides/slide6.xml" Id="R322952ee116946b1" /><Relationship Type="http://schemas.openxmlformats.org/officeDocument/2006/relationships/slide" Target="/ppt/slides/slide7.xml" Id="Re79dc0ec0b0c4803" /><Relationship Type="http://schemas.openxmlformats.org/officeDocument/2006/relationships/slide" Target="/ppt/slides/slide8.xml" Id="R608da1598e3740b8" /><Relationship Type="http://schemas.openxmlformats.org/officeDocument/2006/relationships/slide" Target="/ppt/slides/slide9.xml" Id="R2dfe7210d37f4fa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2927f703784bd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1a6aebdca144221" /><Relationship Type="http://schemas.openxmlformats.org/officeDocument/2006/relationships/notesMaster" Target="/ppt/notesMasters/notesMaster1.xml" Id="Rd8ab450602b349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162706afca413d" /><Relationship Type="http://schemas.openxmlformats.org/officeDocument/2006/relationships/notesMaster" Target="/ppt/notesMasters/notesMaster1.xml" Id="R88d873f5731a42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9d9688f36bef4dd6" /><Relationship Type="http://schemas.openxmlformats.org/officeDocument/2006/relationships/notesMaster" Target="/ppt/notesMasters/notesMaster1.xml" Id="R6ac4f0839da64d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e4dfc93b1b473b" /><Relationship Type="http://schemas.openxmlformats.org/officeDocument/2006/relationships/notesMaster" Target="/ppt/notesMasters/notesMaster1.xml" Id="R5feb5cc7b5f04c0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eb4291ad75d4f9c" /><Relationship Type="http://schemas.openxmlformats.org/officeDocument/2006/relationships/notesMaster" Target="/ppt/notesMasters/notesMaster1.xml" Id="Re4776926ed2e48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20f3d1e7a844c9" /><Relationship Type="http://schemas.openxmlformats.org/officeDocument/2006/relationships/notesMaster" Target="/ppt/notesMasters/notesMaster1.xml" Id="Ra0d9e52d21644710"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78180e47574a2b" /><Relationship Type="http://schemas.openxmlformats.org/officeDocument/2006/relationships/notesMaster" Target="/ppt/notesMasters/notesMaster1.xml" Id="R3c0a804503d9422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6ca90b57974117" /><Relationship Type="http://schemas.openxmlformats.org/officeDocument/2006/relationships/notesMaster" Target="/ppt/notesMasters/notesMaster1.xml" Id="Rcf7914b3ea724bd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bc87679dc744e57" /><Relationship Type="http://schemas.openxmlformats.org/officeDocument/2006/relationships/notesMaster" Target="/ppt/notesMasters/notesMaster1.xml" Id="R60570c438c794d4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built an end-to-end Cats versus Dogs MLOps project. I will demonstrate how a tracked code change moves through testing, container delivery, deployment, prediction, monitoring and post-deployment evaluation.</a:t>
            </a:r>
          </a:p>
          <a:p xmlns:a="http://schemas.openxmlformats.org/drawingml/2006/main">
            <a:r>
              <a:t/>
            </a:r>
          </a:p>
          <a:p xmlns:a="http://schemas.openxmlformats.org/drawingml/2006/main">
            <a:r>
              <a:t>[Sources]</a:t>
            </a:r>
          </a:p>
          <a:p xmlns:a="http://schemas.openxmlformats.org/drawingml/2006/main">
            <a:r>
              <a:t>- https://github.com/Navneet-Kang/cats-dogs-mlops-assignment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workflow starts with versioned code and data. DVC defines preparation and training, MLflow records experiments, pytest protects the change, GitHub Actions builds the image, my Windows runner deploys it, and the live API is monitored and evaluated.</a:t>
            </a:r>
          </a:p>
          <a:p xmlns:a="http://schemas.openxmlformats.org/drawingml/2006/main">
            <a:r>
              <a:t/>
            </a:r>
          </a:p>
          <a:p xmlns:a="http://schemas.openxmlformats.org/drawingml/2006/main">
            <a:r>
              <a:t>[Sources]</a:t>
            </a:r>
          </a:p>
          <a:p xmlns:a="http://schemas.openxmlformats.org/drawingml/2006/main">
            <a:r>
              <a:t>- https://github.com/Navneet-Kang/cats-dogs-mlops-assignment/blob/main/dvc.yaml</a:t>
            </a:r>
          </a:p>
          <a:p xmlns:a="http://schemas.openxmlformats.org/drawingml/2006/main">
            <a:r>
              <a:t>- https://github.com/Navneet-Kang/cats-dogs-mlops-assignment/blob/main/.github/workflows/ci-cd.yml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includes reproducibility controls at three levels: data and pipeline versioning, experiment tracking, and automated tests. I also want to be transparent that the current dvc.lock still requires conflict-marker cleanup before I claim the repository is fully clean.</a:t>
            </a:r>
          </a:p>
          <a:p xmlns:a="http://schemas.openxmlformats.org/drawingml/2006/main">
            <a:r>
              <a:t/>
            </a:r>
          </a:p>
          <a:p xmlns:a="http://schemas.openxmlformats.org/drawingml/2006/main">
            <a:r>
              <a:t>[Sources]</a:t>
            </a:r>
          </a:p>
          <a:p xmlns:a="http://schemas.openxmlformats.org/drawingml/2006/main">
            <a:r>
              <a:t>- https://github.com/Navneet-Kang/cats-dogs-mlops-assignment/blob/main/dvc.yaml</a:t>
            </a:r>
          </a:p>
          <a:p xmlns:a="http://schemas.openxmlformats.org/drawingml/2006/main">
            <a:r>
              <a:t>- https://github.com/Navneet-Kang/cats-dogs-mlops-assignment/blob/main/src/catsdogs/train.py</a:t>
            </a:r>
          </a:p>
          <a:p xmlns:a="http://schemas.openxmlformats.org/drawingml/2006/main">
            <a:r>
              <a:t>- https://github.com/Navneet-Kang/cats-dogs-mlops-assignment/tree/main/tests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my CI/CD proof. The test-and-build job completed first, then the deploy job succeeded. The workflow installs dependencies, runs tests, publishes the image and deploys only after the earlier job passes.</a:t>
            </a:r>
          </a:p>
          <a:p xmlns:a="http://schemas.openxmlformats.org/drawingml/2006/main">
            <a:r>
              <a:t/>
            </a:r>
          </a:p>
          <a:p xmlns:a="http://schemas.openxmlformats.org/drawingml/2006/main">
            <a:r>
              <a:t>[Sources]</a:t>
            </a:r>
          </a:p>
          <a:p xmlns:a="http://schemas.openxmlformats.org/drawingml/2006/main">
            <a:r>
              <a:t>- https://github.com/Navneet-Kang/cats-dogs-mlops-assignment/actions</a:t>
            </a:r>
          </a:p>
          <a:p xmlns:a="http://schemas.openxmlformats.org/drawingml/2006/main">
            <a:r>
              <a:t>- https://github.com/Navneet-Kang/cats-dogs-mlops-assignment/blob/main/.github/workflows/ci-cd.yml</a:t>
            </a:r>
          </a:p>
          <a:p xmlns:a="http://schemas.openxmlformats.org/drawingml/2006/main">
            <a:r>
              <a:t>- User-provided screenshot: 6924dfdf-f74a-4417-9d3b-f4be844f1019.png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deployed stack contains the FastAPI model service and Prometheus. Docker reports the API as healthy on port 8001, and the health endpoint confirms status OK, model loaded true and application version 1.0.0.</a:t>
            </a:r>
          </a:p>
          <a:p xmlns:a="http://schemas.openxmlformats.org/drawingml/2006/main">
            <a:r>
              <a:t/>
            </a:r>
          </a:p>
          <a:p xmlns:a="http://schemas.openxmlformats.org/drawingml/2006/main">
            <a:r>
              <a:t>[Sources]</a:t>
            </a:r>
          </a:p>
          <a:p xmlns:a="http://schemas.openxmlformats.org/drawingml/2006/main">
            <a:r>
              <a:t>- https://github.com/Navneet-Kang/cats-dogs-mlops-assignment/blob/main/docker-compose.yml</a:t>
            </a:r>
          </a:p>
          <a:p xmlns:a="http://schemas.openxmlformats.org/drawingml/2006/main">
            <a:r>
              <a:t>- https://github.com/Navneet-Kang/cats-dogs-mlops-assignment/blob/main/app/main.py</a:t>
            </a:r>
          </a:p>
          <a:p xmlns:a="http://schemas.openxmlformats.org/drawingml/2006/main">
            <a:r>
              <a:t>- User-provided screenshots: e5aecb39-7ae1-476a-b4b1-c7f1e7b6c2d0.png and fa8839f1-803f-4b5f-8a41-f80aed1280c9.png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API exposes health, prediction and metrics endpoints. The screenshot shows successful health and metrics requests. My structured logs support traceability while excluding image content and filenames.</a:t>
            </a:r>
          </a:p>
          <a:p xmlns:a="http://schemas.openxmlformats.org/drawingml/2006/main">
            <a:r>
              <a:t/>
            </a:r>
          </a:p>
          <a:p xmlns:a="http://schemas.openxmlformats.org/drawingml/2006/main">
            <a:r>
              <a:t>[Sources]</a:t>
            </a:r>
          </a:p>
          <a:p xmlns:a="http://schemas.openxmlformats.org/drawingml/2006/main">
            <a:r>
              <a:t>- https://github.com/Navneet-Kang/cats-dogs-mlops-assignment/blob/main/app/main.py</a:t>
            </a:r>
          </a:p>
          <a:p xmlns:a="http://schemas.openxmlformats.org/drawingml/2006/main">
            <a:r>
              <a:t>- https://github.com/Navneet-Kang/cats-dogs-mlops-assignment/blob/main/prometheus.yml</a:t>
            </a:r>
          </a:p>
          <a:p xmlns:a="http://schemas.openxmlformats.org/drawingml/2006/main">
            <a:r>
              <a:t>- User-provided screenshot: dae7a1ed-c17a-4aeb-8d3b-9202c06bd3f7.png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baseline result is intentionally reported without exaggeration. Offline test accuracy is 50.3 percent and dog-class F1 is about 3.87 percent. Post-deployment accuracy is 50 percent and dog-class F1 is zero. These results show that the pipeline is measurable and functioning, but the model is not production-ready.</a:t>
            </a:r>
          </a:p>
          <a:p xmlns:a="http://schemas.openxmlformats.org/drawingml/2006/main">
            <a:r>
              <a:t/>
            </a:r>
          </a:p>
          <a:p xmlns:a="http://schemas.openxmlformats.org/drawingml/2006/main">
            <a:r>
              <a:t>[Sources]</a:t>
            </a:r>
          </a:p>
          <a:p xmlns:a="http://schemas.openxmlformats.org/drawingml/2006/main">
            <a:r>
              <a:t>- https://github.com/Navneet-Kang/cats-dogs-mlops-assignment/blob/main/artifacts/test_metrics.json</a:t>
            </a:r>
          </a:p>
          <a:p xmlns:a="http://schemas.openxmlformats.org/drawingml/2006/main">
            <a:r>
              <a:t>- https://github.com/Navneet-Kang/cats-dogs-mlops-assignment/pull/1</a:t>
            </a:r>
          </a:p>
          <a:p xmlns:a="http://schemas.openxmlformats.org/drawingml/2006/main">
            <a:r>
              <a:t>- User-provided post-deployment evaluation screenshot: a9bdbdec-7446-4851-9f7a-26a9047a8d20.png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step eight of the assignment. I sent 20 labeled images through the deployed HTTP endpoint. The resulting accuracy was 50 percent and dog-class F1 was zero. This exposes the same model-quality weakness seen offline. The evaluator is committed, but I should also commit the generated JSON artifact before final submission.</a:t>
            </a:r>
          </a:p>
          <a:p xmlns:a="http://schemas.openxmlformats.org/drawingml/2006/main">
            <a:r>
              <a:t/>
            </a:r>
          </a:p>
          <a:p xmlns:a="http://schemas.openxmlformats.org/drawingml/2006/main">
            <a:r>
              <a:t>[Sources]</a:t>
            </a:r>
          </a:p>
          <a:p xmlns:a="http://schemas.openxmlformats.org/drawingml/2006/main">
            <a:r>
              <a:t>- https://github.com/Navneet-Kang/cats-dogs-mlops-assignment/blob/main/scripts/post_deploy_evaluate.py</a:t>
            </a:r>
          </a:p>
          <a:p xmlns:a="http://schemas.openxmlformats.org/drawingml/2006/main">
            <a:r>
              <a:t>- https://github.com/Navneet-Kang/cats-dogs-mlops-assignment/pull/1</a:t>
            </a:r>
          </a:p>
          <a:p xmlns:a="http://schemas.openxmlformats.org/drawingml/2006/main">
            <a:r>
              <a:t>- User-provided screenshot: a9bdbdec-7446-4851-9f7a-26a9047a8d20.png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finish by showing the green workflow, matching commit and image tag, healthy endpoint, live prediction, metrics and post-deployment evaluation. The project successfully demonstrates the engineering lifecycle. My next priority is improving the model and completing the two remaining evidence-cleanup tasks.</a:t>
            </a:r>
          </a:p>
          <a:p xmlns:a="http://schemas.openxmlformats.org/drawingml/2006/main">
            <a:r>
              <a:t/>
            </a:r>
          </a:p>
          <a:p xmlns:a="http://schemas.openxmlformats.org/drawingml/2006/main">
            <a:r>
              <a:t>[Sources]</a:t>
            </a:r>
          </a:p>
          <a:p xmlns:a="http://schemas.openxmlformats.org/drawingml/2006/main">
            <a:r>
              <a:t>- https://github.com/Navneet-Kang/cats-dogs-mlops-assignment</a:t>
            </a:r>
          </a:p>
          <a:p xmlns:a="http://schemas.openxmlformats.org/drawingml/2006/main">
            <a:r>
              <a:t>- https://github.com/Navneet-Kang/cats-dogs-mlops-assignment/actions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495d1bb4984e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389ee694d1c4f86" /><Relationship Type="http://schemas.openxmlformats.org/officeDocument/2006/relationships/slideLayout" Target="/ppt/slideLayouts/slideLayout1.xml" Id="Rfcffd98747e746b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cffd98747e746b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2ec517019684702" /><Relationship Type="http://schemas.openxmlformats.org/officeDocument/2006/relationships/notesSlide" Target="/ppt/notesSlides/notesSlide1.xml" Id="R42ef4e746d544e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a43b76a3e474d1f" /><Relationship Type="http://schemas.openxmlformats.org/officeDocument/2006/relationships/notesSlide" Target="/ppt/notesSlides/notesSlide2.xml" Id="R7d6db75a890a4e7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a3ab225d3764bea" /><Relationship Type="http://schemas.openxmlformats.org/officeDocument/2006/relationships/notesSlide" Target="/ppt/notesSlides/notesSlide3.xml" Id="R9f2e8f93d55c4aa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5c1b9e9c3664f1e" /><Relationship Type="http://schemas.openxmlformats.org/officeDocument/2006/relationships/image" Target="/ppt/media/image.png" Id="Rfbbc6b54ed554f60" /><Relationship Type="http://schemas.openxmlformats.org/officeDocument/2006/relationships/notesSlide" Target="/ppt/notesSlides/notesSlide4.xml" Id="R8d60a639dd3d403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fd844193d144abd" /><Relationship Type="http://schemas.openxmlformats.org/officeDocument/2006/relationships/image" Target="/ppt/media/image2.png" Id="R2f7e10a4dade4fda" /><Relationship Type="http://schemas.openxmlformats.org/officeDocument/2006/relationships/image" Target="/ppt/media/image3.png" Id="R90b59a90f79a420f" /><Relationship Type="http://schemas.openxmlformats.org/officeDocument/2006/relationships/notesSlide" Target="/ppt/notesSlides/notesSlide5.xml" Id="R9032b655169743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baa8a02d38d4346" /><Relationship Type="http://schemas.openxmlformats.org/officeDocument/2006/relationships/image" Target="/ppt/media/image4.png" Id="Re4005ec985454792" /><Relationship Type="http://schemas.openxmlformats.org/officeDocument/2006/relationships/notesSlide" Target="/ppt/notesSlides/notesSlide6.xml" Id="R6e95f9dd68c34e8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9bc85ff9b4047dd" /><Relationship Type="http://schemas.openxmlformats.org/officeDocument/2006/relationships/chart" Target="/ppt/slides/charts/chart1.xml" Id="R9265f3dba2c0438f" /><Relationship Type="http://schemas.openxmlformats.org/officeDocument/2006/relationships/notesSlide" Target="/ppt/notesSlides/notesSlide7.xml" Id="R7eaf391c990540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e84bd79ce6b42e3" /><Relationship Type="http://schemas.openxmlformats.org/officeDocument/2006/relationships/image" Target="/ppt/media/image5.png" Id="R59ea355d54174805" /><Relationship Type="http://schemas.openxmlformats.org/officeDocument/2006/relationships/notesSlide" Target="/ppt/notesSlides/notesSlide8.xml" Id="Ra21ce817d2f7477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cad46dad6a443c7" /><Relationship Type="http://schemas.openxmlformats.org/officeDocument/2006/relationships/notesSlide" Target="/ppt/notesSlides/notesSlide9.xml" Id="Rb610a0704a2f4b4f" /></Relationships>
</file>

<file path=ppt/slides/charts/chart1.xml><?xml version="1.0" encoding="utf-8"?>
<c:chartSpace xmlns:c="http://schemas.openxmlformats.org/drawingml/2006/chart">
  <c:lang val="en-US"/>
  <c:chart>
    <c:plotArea>
      <c:barChart>
        <c:barDir val="col"/>
        <c:grouping val="clustered"/>
        <c:varyColors val="0"/>
        <c:ser>
          <c:idx val="0"/>
          <c:order val="0"/>
          <c:tx>
            <c:v>Offline test</c:v>
          </c:tx>
          <c:spPr>
            <a:solidFill xmlns:a="http://schemas.openxmlformats.org/drawingml/2006/main">
              <a:srgbClr val="3D8DFF"/>
            </a:solidFill>
          </c:spPr>
          <c:cat>
            <c:strLit>
              <c:ptCount val="2"/>
              <c:pt idx="0">
                <c:v>Accuracy</c:v>
              </c:pt>
              <c:pt idx="1">
                <c:v>Dog-class F1</c:v>
              </c:pt>
            </c:strLit>
          </c:cat>
          <c:val>
            <c:numLit>
              <c:formatCode>0.0%</c:formatCode>
              <c:ptCount val="2"/>
              <c:pt idx="0">
                <c:v>0.503</c:v>
              </c:pt>
              <c:pt idx="1">
                <c:v>0.0387</c:v>
              </c:pt>
            </c:numLit>
          </c:val>
        </c:ser>
        <c:ser>
          <c:idx val="1"/>
          <c:order val="1"/>
          <c:tx>
            <c:v>Post-deployment</c:v>
          </c:tx>
          <c:spPr>
            <a:solidFill xmlns:a="http://schemas.openxmlformats.org/drawingml/2006/main">
              <a:srgbClr val="D0EDFA"/>
            </a:solidFill>
          </c:spPr>
          <c:cat>
            <c:strLit>
              <c:ptCount val="2"/>
              <c:pt idx="0">
                <c:v>Accuracy</c:v>
              </c:pt>
              <c:pt idx="1">
                <c:v>Dog-class F1</c:v>
              </c:pt>
            </c:strLit>
          </c:cat>
          <c:val>
            <c:numLit>
              <c:formatCode>0.0%</c:formatCode>
              <c:ptCount val="2"/>
              <c:pt idx="0">
                <c:v>0.5</c:v>
              </c:pt>
              <c:pt idx="1">
                <c:v>0</c:v>
              </c:pt>
            </c:numLit>
          </c:val>
        </c:ser>
        <c:dLbls>
          <c:txPr>
            <a:bodyPr xmlns:a="http://schemas.openxmlformats.org/drawingml/2006/main" anchorCtr="1"/>
            <a:lstStyle xmlns:a="http://schemas.openxmlformats.org/drawingml/2006/main"/>
            <a:p xmlns:a="http://schemas.openxmlformats.org/drawingml/2006/main">
              <a:pPr>
                <a:defRPr sz="1050" b="1">
                  <a:solidFill>
                    <a:srgbClr val="101114"/>
                  </a:solidFil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1200" b="1">
                <a:solidFill>
                  <a:srgbClr val="101114"/>
                </a:solidFill>
              </a:defRPr>
            </a:pPr>
          </a:p>
        </c:txPr>
        <c:crossAx val="48672768"/>
      </c:catAx>
      <c:valAx>
        <c:axId val="48672768"/>
        <c:scaling>
          <c:orientation val="minMax"/>
          <c:max val="1"/>
          <c:min val="0"/>
        </c:scaling>
        <c:delete val="0"/>
        <c:axPos val="l"/>
        <c:majorGridlines>
          <c:spPr>
            <a:ln xmlns:a="http://schemas.openxmlformats.org/drawingml/2006/main" w="9525">
              <a:solidFill>
                <a:srgbClr val="EDEDED"/>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E6673"/>
                </a:solidFill>
              </a:defRPr>
            </a:pPr>
          </a:p>
        </c:txPr>
        <c:crossAx val="48650112"/>
        <c:crossBetween val="between"/>
        <c:majorUnit val="0.2"/>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125">
              <a:solidFill>
                <a:srgbClr val="5E6673"/>
              </a:solidFill>
            </a:defRPr>
          </a:pPr>
        </a:p>
      </c:txPr>
    </c:legend>
    <c:plotVisOnly val="1"/>
  </c:chart>
  <c:spPr>
    <a:solidFill xmlns:a="http://schemas.openxmlformats.org/drawingml/2006/main">
      <a:srgbClr val="FFFFFF"/>
    </a:solidFill>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E0C35DA-2C14-467A-9FDF-FD225AD64C95}"/>
              </a:ext>
            </a:extLst>
          </p:cNvPr>
          <p:cNvSpPr>
            <a:spLocks xmlns:a="http://schemas.openxmlformats.org/drawingml/2006/main" noGrp="1"/>
          </p:cNvSpPr>
          <p:nvPr/>
        </p:nvSpPr>
        <p:spPr>
          <a:xfrm xmlns:a="http://schemas.openxmlformats.org/drawingml/2006/main">
            <a:off x="457200" y="419100"/>
            <a:ext cx="571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3D8DFF"/>
                </a:solidFill>
                <a:latin typeface="Arial"/>
                <a:ea typeface="Arial"/>
                <a:cs typeface="Arial"/>
              </a:defRPr>
            </a:pPr>
            <a:r>
              <a:rPr sz="1350" b="1">
                <a:solidFill>
                  <a:srgbClr val="3D8DFF"/>
                </a:solidFill>
                <a:latin typeface="Arial"/>
                <a:ea typeface="Arial"/>
                <a:cs typeface="Arial"/>
              </a:rPr>
              <a:t>MLOPS ASSIGNMENT DEMONSTRATION</a:t>
            </a:r>
          </a:p>
        </p:txBody>
      </p:sp>
      <p:sp>
        <p:nvSpPr>
          <p:cNvPr id="2" name="">
            <a:extLst xmlns:a="http://schemas.openxmlformats.org/drawingml/2006/main">
              <a:ext uri="{FF2B5EF4-FFF2-40B4-BE49-F238E27FC236}">
                <a16:creationId xmlns:a16="http://schemas.microsoft.com/office/drawing/2014/main" id="{EC293BB3-FF01-4E08-AE8E-9BA15D32FFC1}"/>
              </a:ext>
            </a:extLst>
          </p:cNvPr>
          <p:cNvSpPr>
            <a:spLocks xmlns:a="http://schemas.openxmlformats.org/drawingml/2006/main" noGrp="1"/>
          </p:cNvSpPr>
          <p:nvPr/>
        </p:nvSpPr>
        <p:spPr>
          <a:xfrm xmlns:a="http://schemas.openxmlformats.org/drawingml/2006/main">
            <a:off x="457200" y="1619250"/>
            <a:ext cx="80962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5700" b="1">
                <a:solidFill>
                  <a:srgbClr val="101114"/>
                </a:solidFill>
                <a:latin typeface="Arial"/>
                <a:ea typeface="Arial"/>
                <a:cs typeface="Arial"/>
              </a:defRPr>
            </a:pPr>
            <a:r>
              <a:rPr sz="5700" b="1">
                <a:solidFill>
                  <a:srgbClr val="101114"/>
                </a:solidFill>
                <a:latin typeface="Arial"/>
                <a:ea typeface="Arial"/>
                <a:cs typeface="Arial"/>
              </a:rPr>
              <a:t>Cats vs Dogs</a:t>
            </a:r>
          </a:p>
          <a:p xmlns:a="http://schemas.openxmlformats.org/drawingml/2006/main">
            <a:pPr algn="l">
              <a:defRPr sz="5700" b="1">
                <a:solidFill>
                  <a:srgbClr val="101114"/>
                </a:solidFill>
                <a:latin typeface="Arial"/>
                <a:ea typeface="Arial"/>
                <a:cs typeface="Arial"/>
              </a:defRPr>
            </a:pPr>
            <a:r>
              <a:rPr sz="5700" b="1">
                <a:solidFill>
                  <a:srgbClr val="101114"/>
                </a:solidFill>
                <a:latin typeface="Arial"/>
                <a:ea typeface="Arial"/>
                <a:cs typeface="Arial"/>
              </a:rPr>
              <a:t>MLOps Workflow</a:t>
            </a:r>
          </a:p>
        </p:txBody>
      </p:sp>
      <p:sp>
        <p:nvSpPr>
          <p:cNvPr id="3" name="">
            <a:extLst xmlns:a="http://schemas.openxmlformats.org/drawingml/2006/main">
              <a:ext uri="{FF2B5EF4-FFF2-40B4-BE49-F238E27FC236}">
                <a16:creationId xmlns:a16="http://schemas.microsoft.com/office/drawing/2014/main" id="{940EDCCC-3E8F-4E6A-B92D-7D501EF00CBC}"/>
              </a:ext>
            </a:extLst>
          </p:cNvPr>
          <p:cNvSpPr>
            <a:spLocks xmlns:a="http://schemas.openxmlformats.org/drawingml/2006/main" noGrp="1"/>
          </p:cNvSpPr>
          <p:nvPr/>
        </p:nvSpPr>
        <p:spPr>
          <a:xfrm xmlns:a="http://schemas.openxmlformats.org/drawingml/2006/main">
            <a:off x="457200" y="4324350"/>
            <a:ext cx="7810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175" b="0">
                <a:solidFill>
                  <a:srgbClr val="5E6673"/>
                </a:solidFill>
                <a:latin typeface="Arial"/>
                <a:ea typeface="Arial"/>
                <a:cs typeface="Arial"/>
              </a:defRPr>
            </a:pPr>
            <a:r>
              <a:rPr sz="2175" b="0">
                <a:solidFill>
                  <a:srgbClr val="5E6673"/>
                </a:solidFill>
                <a:latin typeface="Arial"/>
                <a:ea typeface="Arial"/>
                <a:cs typeface="Arial"/>
              </a:rPr>
              <a:t>From versioned code and data to a deployed model prediction</a:t>
            </a:r>
          </a:p>
        </p:txBody>
      </p:sp>
      <p:sp>
        <p:nvSpPr>
          <p:cNvPr id="4" name="">
            <a:extLst xmlns:a="http://schemas.openxmlformats.org/drawingml/2006/main">
              <a:ext uri="{FF2B5EF4-FFF2-40B4-BE49-F238E27FC236}">
                <a16:creationId xmlns:a16="http://schemas.microsoft.com/office/drawing/2014/main" id="{C46AE42D-62A3-45EB-A919-011C4F42FDE9}"/>
              </a:ext>
            </a:extLst>
          </p:cNvPr>
          <p:cNvSpPr>
            <a:spLocks xmlns:a="http://schemas.openxmlformats.org/drawingml/2006/main" noGrp="1"/>
          </p:cNvSpPr>
          <p:nvPr/>
        </p:nvSpPr>
        <p:spPr>
          <a:xfrm xmlns:a="http://schemas.openxmlformats.org/drawingml/2006/main">
            <a:off x="9048750" y="0"/>
            <a:ext cx="3143250" cy="6858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DB8A18F-F26B-4C59-A008-24DB091359DF}"/>
              </a:ext>
            </a:extLst>
          </p:cNvPr>
          <p:cNvSpPr>
            <a:spLocks xmlns:a="http://schemas.openxmlformats.org/drawingml/2006/main" noGrp="1"/>
          </p:cNvSpPr>
          <p:nvPr/>
        </p:nvSpPr>
        <p:spPr>
          <a:xfrm xmlns:a="http://schemas.openxmlformats.org/drawingml/2006/main">
            <a:off x="9477375" y="1676400"/>
            <a:ext cx="2286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100000"/>
          </a:bodyPr>
          <a:lstStyle xmlns:a="http://schemas.openxmlformats.org/drawingml/2006/main"/>
          <a:p xmlns:a="http://schemas.openxmlformats.org/drawingml/2006/main">
            <a:pPr algn="l">
              <a:defRPr sz="2025" b="1">
                <a:solidFill>
                  <a:srgbClr val="101114"/>
                </a:solidFill>
                <a:latin typeface="Arial"/>
                <a:ea typeface="Arial"/>
                <a:cs typeface="Arial"/>
              </a:defRPr>
            </a:pPr>
            <a:r>
              <a:rPr sz="2025" b="1">
                <a:solidFill>
                  <a:srgbClr val="101114"/>
                </a:solidFill>
                <a:latin typeface="Arial"/>
                <a:ea typeface="Arial"/>
                <a:cs typeface="Arial"/>
              </a:rPr>
              <a:t>Git + DVC</a:t>
            </a:r>
          </a:p>
          <a:p xmlns:a="http://schemas.openxmlformats.org/drawingml/2006/main">
            <a:pPr algn="l">
              <a:defRPr sz="2025" b="1">
                <a:solidFill>
                  <a:srgbClr val="101114"/>
                </a:solidFill>
                <a:latin typeface="Arial"/>
                <a:ea typeface="Arial"/>
                <a:cs typeface="Arial"/>
              </a:defRPr>
            </a:pPr>
            <a:r>
              <a:rPr sz="2025" b="1">
                <a:solidFill>
                  <a:srgbClr val="101114"/>
                </a:solidFill>
                <a:latin typeface="Arial"/>
                <a:ea typeface="Arial"/>
                <a:cs typeface="Arial"/>
              </a:rPr>
              <a:t>MLflow</a:t>
            </a:r>
          </a:p>
          <a:p xmlns:a="http://schemas.openxmlformats.org/drawingml/2006/main">
            <a:pPr algn="l">
              <a:defRPr sz="2025" b="1">
                <a:solidFill>
                  <a:srgbClr val="101114"/>
                </a:solidFill>
                <a:latin typeface="Arial"/>
                <a:ea typeface="Arial"/>
                <a:cs typeface="Arial"/>
              </a:defRPr>
            </a:pPr>
            <a:r>
              <a:rPr sz="2025" b="1">
                <a:solidFill>
                  <a:srgbClr val="101114"/>
                </a:solidFill>
                <a:latin typeface="Arial"/>
                <a:ea typeface="Arial"/>
                <a:cs typeface="Arial"/>
              </a:rPr>
              <a:t>FastAPI</a:t>
            </a:r>
          </a:p>
          <a:p xmlns:a="http://schemas.openxmlformats.org/drawingml/2006/main">
            <a:pPr algn="l">
              <a:defRPr sz="2025" b="1">
                <a:solidFill>
                  <a:srgbClr val="101114"/>
                </a:solidFill>
                <a:latin typeface="Arial"/>
                <a:ea typeface="Arial"/>
                <a:cs typeface="Arial"/>
              </a:defRPr>
            </a:pPr>
            <a:r>
              <a:rPr sz="2025" b="1">
                <a:solidFill>
                  <a:srgbClr val="101114"/>
                </a:solidFill>
                <a:latin typeface="Arial"/>
                <a:ea typeface="Arial"/>
                <a:cs typeface="Arial"/>
              </a:rPr>
              <a:t>Docker + GHCR</a:t>
            </a:r>
          </a:p>
          <a:p xmlns:a="http://schemas.openxmlformats.org/drawingml/2006/main">
            <a:pPr algn="l">
              <a:defRPr sz="2025" b="1">
                <a:solidFill>
                  <a:srgbClr val="101114"/>
                </a:solidFill>
                <a:latin typeface="Arial"/>
                <a:ea typeface="Arial"/>
                <a:cs typeface="Arial"/>
              </a:defRPr>
            </a:pPr>
            <a:r>
              <a:rPr sz="2025" b="1">
                <a:solidFill>
                  <a:srgbClr val="101114"/>
                </a:solidFill>
                <a:latin typeface="Arial"/>
                <a:ea typeface="Arial"/>
                <a:cs typeface="Arial"/>
              </a:rPr>
              <a:t>GitHub Actions</a:t>
            </a:r>
          </a:p>
          <a:p xmlns:a="http://schemas.openxmlformats.org/drawingml/2006/main">
            <a:pPr algn="l">
              <a:defRPr sz="2025" b="1">
                <a:solidFill>
                  <a:srgbClr val="101114"/>
                </a:solidFill>
                <a:latin typeface="Arial"/>
                <a:ea typeface="Arial"/>
                <a:cs typeface="Arial"/>
              </a:defRPr>
            </a:pPr>
            <a:r>
              <a:rPr sz="2025" b="1">
                <a:solidFill>
                  <a:srgbClr val="101114"/>
                </a:solidFill>
                <a:latin typeface="Arial"/>
                <a:ea typeface="Arial"/>
                <a:cs typeface="Arial"/>
              </a:rPr>
              <a:t>Prometheus</a:t>
            </a:r>
          </a:p>
        </p:txBody>
      </p:sp>
      <p:sp>
        <p:nvSpPr>
          <p:cNvPr id="6" name="">
            <a:extLst xmlns:a="http://schemas.openxmlformats.org/drawingml/2006/main">
              <a:ext uri="{FF2B5EF4-FFF2-40B4-BE49-F238E27FC236}">
                <a16:creationId xmlns:a16="http://schemas.microsoft.com/office/drawing/2014/main" id="{256EB21B-35DF-457C-B4F6-942C3E7AFB38}"/>
              </a:ext>
            </a:extLst>
          </p:cNvPr>
          <p:cNvSpPr>
            <a:spLocks xmlns:a="http://schemas.openxmlformats.org/drawingml/2006/main" noGrp="1"/>
          </p:cNvSpPr>
          <p:nvPr/>
        </p:nvSpPr>
        <p:spPr>
          <a:xfrm xmlns:a="http://schemas.openxmlformats.org/drawingml/2006/main">
            <a:off x="457200" y="600075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p xmlns:a="http://schemas.openxmlformats.org/drawingml/2006/main">
            <a:pPr algn="l">
              <a:defRPr sz="1425" b="1">
                <a:solidFill>
                  <a:srgbClr val="101114"/>
                </a:solidFill>
                <a:latin typeface="Arial"/>
                <a:ea typeface="Arial"/>
                <a:cs typeface="Arial"/>
              </a:defRPr>
            </a:pPr>
            <a:r>
              <a:rPr sz="1425" b="1">
                <a:solidFill>
                  <a:srgbClr val="101114"/>
                </a:solidFill>
                <a:latin typeface="Arial"/>
                <a:ea typeface="Arial"/>
                <a:cs typeface="Arial"/>
              </a:rPr>
              <a:t>Navneet Kang</a:t>
            </a:r>
          </a:p>
        </p:txBody>
      </p:sp>
    </p:spTree>
    <p:extLst>
      <p:ext uri="{BB962C8B-B14F-4D97-AF65-F5344CB8AC3E}">
        <p14:creationId xmlns:p14="http://schemas.microsoft.com/office/powerpoint/2010/main" val="945087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
            <a:extLst xmlns:a="http://schemas.openxmlformats.org/drawingml/2006/main">
              <a:ext uri="{FF2B5EF4-FFF2-40B4-BE49-F238E27FC236}">
                <a16:creationId xmlns:a16="http://schemas.microsoft.com/office/drawing/2014/main" id="{8863D578-8D4F-4DE0-8152-2D27E7A76372}"/>
              </a:ext>
            </a:extLst>
          </p:cNvPr>
          <p:cNvSpPr>
            <a:spLocks xmlns:a="http://schemas.openxmlformats.org/drawingml/2006/main" noGrp="1"/>
          </p:cNvSpPr>
          <p:nvPr/>
        </p:nvSpPr>
        <p:spPr>
          <a:xfrm xmlns:a="http://schemas.openxmlformats.org/drawingml/2006/main">
            <a:off x="457200" y="2667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5E6673"/>
                </a:solidFill>
                <a:latin typeface="Arial"/>
                <a:ea typeface="Arial"/>
                <a:cs typeface="Arial"/>
              </a:defRPr>
            </a:pPr>
            <a:r>
              <a:rPr sz="1125" b="1">
                <a:solidFill>
                  <a:srgbClr val="5E6673"/>
                </a:solidFill>
                <a:latin typeface="Arial"/>
                <a:ea typeface="Arial"/>
                <a:cs typeface="Arial"/>
              </a:rPr>
              <a:t>CATS VS DOGS MLOPS</a:t>
            </a:r>
          </a:p>
        </p:txBody>
      </p:sp>
      <p:sp>
        <p:nvSpPr>
          <p:cNvPr id="2" name="">
            <a:extLst xmlns:a="http://schemas.openxmlformats.org/drawingml/2006/main">
              <a:ext uri="{FF2B5EF4-FFF2-40B4-BE49-F238E27FC236}">
                <a16:creationId xmlns:a16="http://schemas.microsoft.com/office/drawing/2014/main" id="{B0D40817-BCB8-44AE-9F39-4903F86A0FD4}"/>
              </a:ext>
            </a:extLst>
          </p:cNvPr>
          <p:cNvSpPr>
            <a:spLocks xmlns:a="http://schemas.openxmlformats.org/drawingml/2006/main" noGrp="1"/>
          </p:cNvSpPr>
          <p:nvPr/>
        </p:nvSpPr>
        <p:spPr>
          <a:xfrm xmlns:a="http://schemas.openxmlformats.org/drawingml/2006/main">
            <a:off x="457200" y="628650"/>
            <a:ext cx="110966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101114"/>
                </a:solidFill>
                <a:latin typeface="Arial"/>
                <a:ea typeface="Arial"/>
                <a:cs typeface="Arial"/>
              </a:defRPr>
            </a:pPr>
            <a:r>
              <a:rPr sz="2925" b="1">
                <a:solidFill>
                  <a:srgbClr val="101114"/>
                </a:solidFill>
                <a:latin typeface="Arial"/>
                <a:ea typeface="Arial"/>
                <a:cs typeface="Arial"/>
              </a:rPr>
              <a:t>One workflow connects every stage of the model lifecycle</a:t>
            </a:r>
          </a:p>
        </p:txBody>
      </p:sp>
      <p:sp>
        <p:nvSpPr>
          <p:cNvPr id="3" name="">
            <a:extLst xmlns:a="http://schemas.openxmlformats.org/drawingml/2006/main">
              <a:ext uri="{FF2B5EF4-FFF2-40B4-BE49-F238E27FC236}">
                <a16:creationId xmlns:a16="http://schemas.microsoft.com/office/drawing/2014/main" id="{C53D02DD-776A-43C1-B860-7328F8C72B18}"/>
              </a:ext>
            </a:extLst>
          </p:cNvPr>
          <p:cNvSpPr>
            <a:spLocks xmlns:a="http://schemas.openxmlformats.org/drawingml/2006/main" noGrp="1"/>
          </p:cNvSpPr>
          <p:nvPr/>
        </p:nvSpPr>
        <p:spPr>
          <a:xfrm xmlns:a="http://schemas.openxmlformats.org/drawingml/2006/main">
            <a:off x="457200" y="1495425"/>
            <a:ext cx="112776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5CCE20BB-291A-4E03-90BB-1D752FDB5F3B}"/>
              </a:ext>
            </a:extLst>
          </p:cNvPr>
          <p:cNvSpPr>
            <a:spLocks xmlns:a="http://schemas.openxmlformats.org/drawingml/2006/main" noGrp="1"/>
          </p:cNvSpPr>
          <p:nvPr/>
        </p:nvSpPr>
        <p:spPr>
          <a:xfrm xmlns:a="http://schemas.openxmlformats.org/drawingml/2006/main">
            <a:off x="457200" y="64960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E6673"/>
                </a:solidFill>
                <a:latin typeface="Arial"/>
                <a:ea typeface="Arial"/>
                <a:cs typeface="Arial"/>
              </a:defRPr>
            </a:pPr>
            <a:r>
              <a:rPr sz="900" b="0">
                <a:solidFill>
                  <a:srgbClr val="5E6673"/>
                </a:solidFill>
                <a:latin typeface="Arial"/>
                <a:ea typeface="Arial"/>
                <a:cs typeface="Arial"/>
              </a:rPr>
              <a:t>Navneet Kang  |  MLOps assignment</a:t>
            </a:r>
          </a:p>
        </p:txBody>
      </p:sp>
      <p:sp>
        <p:nvSpPr>
          <p:cNvPr id="5" name="">
            <a:extLst xmlns:a="http://schemas.openxmlformats.org/drawingml/2006/main">
              <a:ext uri="{FF2B5EF4-FFF2-40B4-BE49-F238E27FC236}">
                <a16:creationId xmlns:a16="http://schemas.microsoft.com/office/drawing/2014/main" id="{4383B91E-DDDB-4F79-B467-B0495B5967DC}"/>
              </a:ext>
            </a:extLst>
          </p:cNvPr>
          <p:cNvSpPr>
            <a:spLocks xmlns:a="http://schemas.openxmlformats.org/drawingml/2006/main" noGrp="1"/>
          </p:cNvSpPr>
          <p:nvPr/>
        </p:nvSpPr>
        <p:spPr>
          <a:xfrm xmlns:a="http://schemas.openxmlformats.org/drawingml/2006/main">
            <a:off x="112776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r">
              <a:defRPr sz="900" b="0">
                <a:solidFill>
                  <a:srgbClr val="5E6673"/>
                </a:solidFill>
                <a:latin typeface="Arial"/>
                <a:ea typeface="Arial"/>
                <a:cs typeface="Arial"/>
              </a:defRPr>
            </a:pPr>
            <a:r>
              <a:rPr sz="900" b="0">
                <a:solidFill>
                  <a:srgbClr val="5E6673"/>
                </a:solidFill>
                <a:latin typeface="Arial"/>
                <a:ea typeface="Arial"/>
                <a:cs typeface="Arial"/>
              </a:rPr>
              <a:t>2</a:t>
            </a:r>
          </a:p>
        </p:txBody>
      </p:sp>
      <p:cxnSp>
        <p:nvCxnSpPr>
          <p:cNvPr id="37" name="workflow-connector"/>
          <p:cNvCxnSpPr/>
          <p:nvPr/>
        </p:nvCxnSpPr>
        <p:spPr>
          <a:xfrm xmlns:a="http://schemas.openxmlformats.org/drawingml/2006/main">
            <a:off x="952500" y="3352800"/>
            <a:ext cx="10287000" cy="0"/>
          </a:xfrm>
          <a:prstGeom xmlns:a="http://schemas.openxmlformats.org/drawingml/2006/main" prst="straightConnector1">
            <a:avLst/>
          </a:prstGeom>
          <a:ln xmlns:a="http://schemas.openxmlformats.org/drawingml/2006/main" w="28575">
            <a:solidFill>
              <a:srgbClr val="B8BCC4"/>
            </a:solidFill>
            <a:prstDash val="solid"/>
          </a:ln>
        </p:spPr>
      </p:cxnSp>
      <p:sp>
        <p:nvSpPr>
          <p:cNvPr id="7" name="">
            <a:extLst xmlns:a="http://schemas.openxmlformats.org/drawingml/2006/main">
              <a:ext uri="{FF2B5EF4-FFF2-40B4-BE49-F238E27FC236}">
                <a16:creationId xmlns:a16="http://schemas.microsoft.com/office/drawing/2014/main" id="{F9C91944-B1C0-42F6-937C-7FFCD50FC989}"/>
              </a:ext>
            </a:extLst>
          </p:cNvPr>
          <p:cNvSpPr>
            <a:spLocks xmlns:a="http://schemas.openxmlformats.org/drawingml/2006/main" noGrp="1"/>
          </p:cNvSpPr>
          <p:nvPr/>
        </p:nvSpPr>
        <p:spPr>
          <a:xfrm xmlns:a="http://schemas.openxmlformats.org/drawingml/2006/main">
            <a:off x="876300" y="3095625"/>
            <a:ext cx="533400" cy="533400"/>
          </a:xfrm>
          <a:prstGeom xmlns:a="http://schemas.openxmlformats.org/drawingml/2006/main" prst="ellipse">
            <a:avLst/>
          </a:prstGeom>
          <a:solidFill xmlns:a="http://schemas.openxmlformats.org/drawingml/2006/main">
            <a:srgbClr val="10111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4DC94F1-4AA2-4FF7-BB7C-9FDD1B985AEC}"/>
              </a:ext>
            </a:extLst>
          </p:cNvPr>
          <p:cNvSpPr>
            <a:spLocks xmlns:a="http://schemas.openxmlformats.org/drawingml/2006/main" noGrp="1"/>
          </p:cNvSpPr>
          <p:nvPr/>
        </p:nvSpPr>
        <p:spPr>
          <a:xfrm xmlns:a="http://schemas.openxmlformats.org/drawingml/2006/main">
            <a:off x="876300" y="31813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159"/>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4096530B-9354-495B-B881-EA5CC841D196}"/>
              </a:ext>
            </a:extLst>
          </p:cNvPr>
          <p:cNvSpPr>
            <a:spLocks xmlns:a="http://schemas.openxmlformats.org/drawingml/2006/main" noGrp="1"/>
          </p:cNvSpPr>
          <p:nvPr/>
        </p:nvSpPr>
        <p:spPr>
          <a:xfrm xmlns:a="http://schemas.openxmlformats.org/drawingml/2006/main">
            <a:off x="590550" y="3857625"/>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101114"/>
                </a:solidFill>
                <a:latin typeface="Arial"/>
                <a:ea typeface="Arial"/>
                <a:cs typeface="Arial"/>
              </a:defRPr>
            </a:pPr>
            <a:r>
              <a:rPr sz="1500" b="1">
                <a:solidFill>
                  <a:srgbClr val="101114"/>
                </a:solidFill>
                <a:latin typeface="Arial"/>
                <a:ea typeface="Arial"/>
                <a:cs typeface="Arial"/>
              </a:rPr>
              <a:t>Code + data</a:t>
            </a:r>
          </a:p>
        </p:txBody>
      </p:sp>
      <p:sp>
        <p:nvSpPr>
          <p:cNvPr id="10" name="">
            <a:extLst xmlns:a="http://schemas.openxmlformats.org/drawingml/2006/main">
              <a:ext uri="{FF2B5EF4-FFF2-40B4-BE49-F238E27FC236}">
                <a16:creationId xmlns:a16="http://schemas.microsoft.com/office/drawing/2014/main" id="{BFDE6ACB-E8D5-4BA3-9716-8DA5F8A11350}"/>
              </a:ext>
            </a:extLst>
          </p:cNvPr>
          <p:cNvSpPr>
            <a:spLocks xmlns:a="http://schemas.openxmlformats.org/drawingml/2006/main" noGrp="1"/>
          </p:cNvSpPr>
          <p:nvPr/>
        </p:nvSpPr>
        <p:spPr>
          <a:xfrm xmlns:a="http://schemas.openxmlformats.org/drawingml/2006/main">
            <a:off x="590550" y="4286250"/>
            <a:ext cx="1524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Git and DVC</a:t>
            </a:r>
          </a:p>
        </p:txBody>
      </p:sp>
      <p:sp>
        <p:nvSpPr>
          <p:cNvPr id="11" name="">
            <a:extLst xmlns:a="http://schemas.openxmlformats.org/drawingml/2006/main">
              <a:ext uri="{FF2B5EF4-FFF2-40B4-BE49-F238E27FC236}">
                <a16:creationId xmlns:a16="http://schemas.microsoft.com/office/drawing/2014/main" id="{5AE1EA19-7436-4520-9A39-910FDDD80D09}"/>
              </a:ext>
            </a:extLst>
          </p:cNvPr>
          <p:cNvSpPr>
            <a:spLocks xmlns:a="http://schemas.openxmlformats.org/drawingml/2006/main" noGrp="1"/>
          </p:cNvSpPr>
          <p:nvPr/>
        </p:nvSpPr>
        <p:spPr>
          <a:xfrm xmlns:a="http://schemas.openxmlformats.org/drawingml/2006/main">
            <a:off x="2876550" y="3095625"/>
            <a:ext cx="533400" cy="533400"/>
          </a:xfrm>
          <a:prstGeom xmlns:a="http://schemas.openxmlformats.org/drawingml/2006/main" prst="ellipse">
            <a:avLst/>
          </a:prstGeom>
          <a:solidFill xmlns:a="http://schemas.openxmlformats.org/drawingml/2006/main">
            <a:srgbClr val="101114"/>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08C99211-F021-407F-A653-C97D36A5B2B7}"/>
              </a:ext>
            </a:extLst>
          </p:cNvPr>
          <p:cNvSpPr>
            <a:spLocks xmlns:a="http://schemas.openxmlformats.org/drawingml/2006/main" noGrp="1"/>
          </p:cNvSpPr>
          <p:nvPr/>
        </p:nvSpPr>
        <p:spPr>
          <a:xfrm xmlns:a="http://schemas.openxmlformats.org/drawingml/2006/main">
            <a:off x="2876550" y="31813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159"/>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2</a:t>
            </a:r>
          </a:p>
        </p:txBody>
      </p:sp>
      <p:sp>
        <p:nvSpPr>
          <p:cNvPr id="13" name="">
            <a:extLst xmlns:a="http://schemas.openxmlformats.org/drawingml/2006/main">
              <a:ext uri="{FF2B5EF4-FFF2-40B4-BE49-F238E27FC236}">
                <a16:creationId xmlns:a16="http://schemas.microsoft.com/office/drawing/2014/main" id="{6105F7C4-BA16-45F9-882F-D81E0420D9F7}"/>
              </a:ext>
            </a:extLst>
          </p:cNvPr>
          <p:cNvSpPr>
            <a:spLocks xmlns:a="http://schemas.openxmlformats.org/drawingml/2006/main" noGrp="1"/>
          </p:cNvSpPr>
          <p:nvPr/>
        </p:nvSpPr>
        <p:spPr>
          <a:xfrm xmlns:a="http://schemas.openxmlformats.org/drawingml/2006/main">
            <a:off x="2590800" y="3857625"/>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127"/>
          </a:bodyPr>
          <a:lstStyle xmlns:a="http://schemas.openxmlformats.org/drawingml/2006/main"/>
          <a:p xmlns:a="http://schemas.openxmlformats.org/drawingml/2006/main">
            <a:pPr algn="l">
              <a:defRPr sz="1500" b="1">
                <a:solidFill>
                  <a:srgbClr val="101114"/>
                </a:solidFill>
                <a:latin typeface="Arial"/>
                <a:ea typeface="Arial"/>
                <a:cs typeface="Arial"/>
              </a:defRPr>
            </a:pPr>
            <a:r>
              <a:rPr sz="1500" b="1">
                <a:solidFill>
                  <a:srgbClr val="101114"/>
                </a:solidFill>
                <a:latin typeface="Arial"/>
                <a:ea typeface="Arial"/>
                <a:cs typeface="Arial"/>
              </a:rPr>
              <a:t>Prepare + train</a:t>
            </a:r>
          </a:p>
        </p:txBody>
      </p:sp>
      <p:sp>
        <p:nvSpPr>
          <p:cNvPr id="14" name="">
            <a:extLst xmlns:a="http://schemas.openxmlformats.org/drawingml/2006/main">
              <a:ext uri="{FF2B5EF4-FFF2-40B4-BE49-F238E27FC236}">
                <a16:creationId xmlns:a16="http://schemas.microsoft.com/office/drawing/2014/main" id="{5918044B-5313-47E8-BC57-D314CB05A951}"/>
              </a:ext>
            </a:extLst>
          </p:cNvPr>
          <p:cNvSpPr>
            <a:spLocks xmlns:a="http://schemas.openxmlformats.org/drawingml/2006/main" noGrp="1"/>
          </p:cNvSpPr>
          <p:nvPr/>
        </p:nvSpPr>
        <p:spPr>
          <a:xfrm xmlns:a="http://schemas.openxmlformats.org/drawingml/2006/main">
            <a:off x="2590800" y="4286250"/>
            <a:ext cx="1524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Reproducible stages</a:t>
            </a:r>
          </a:p>
        </p:txBody>
      </p:sp>
      <p:sp>
        <p:nvSpPr>
          <p:cNvPr id="15" name="">
            <a:extLst xmlns:a="http://schemas.openxmlformats.org/drawingml/2006/main">
              <a:ext uri="{FF2B5EF4-FFF2-40B4-BE49-F238E27FC236}">
                <a16:creationId xmlns:a16="http://schemas.microsoft.com/office/drawing/2014/main" id="{70795154-DC9A-4959-BD32-8447103BB5C8}"/>
              </a:ext>
            </a:extLst>
          </p:cNvPr>
          <p:cNvSpPr>
            <a:spLocks xmlns:a="http://schemas.openxmlformats.org/drawingml/2006/main" noGrp="1"/>
          </p:cNvSpPr>
          <p:nvPr/>
        </p:nvSpPr>
        <p:spPr>
          <a:xfrm xmlns:a="http://schemas.openxmlformats.org/drawingml/2006/main">
            <a:off x="4876800" y="3095625"/>
            <a:ext cx="533400" cy="533400"/>
          </a:xfrm>
          <a:prstGeom xmlns:a="http://schemas.openxmlformats.org/drawingml/2006/main" prst="ellipse">
            <a:avLst/>
          </a:prstGeom>
          <a:solidFill xmlns:a="http://schemas.openxmlformats.org/drawingml/2006/main">
            <a:srgbClr val="101114"/>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BC58D867-DD71-41F7-8F69-1B128DA02BCE}"/>
              </a:ext>
            </a:extLst>
          </p:cNvPr>
          <p:cNvSpPr>
            <a:spLocks xmlns:a="http://schemas.openxmlformats.org/drawingml/2006/main" noGrp="1"/>
          </p:cNvSpPr>
          <p:nvPr/>
        </p:nvSpPr>
        <p:spPr>
          <a:xfrm xmlns:a="http://schemas.openxmlformats.org/drawingml/2006/main">
            <a:off x="4876800" y="31813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159"/>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3</a:t>
            </a:r>
          </a:p>
        </p:txBody>
      </p:sp>
      <p:sp>
        <p:nvSpPr>
          <p:cNvPr id="17" name="">
            <a:extLst xmlns:a="http://schemas.openxmlformats.org/drawingml/2006/main">
              <a:ext uri="{FF2B5EF4-FFF2-40B4-BE49-F238E27FC236}">
                <a16:creationId xmlns:a16="http://schemas.microsoft.com/office/drawing/2014/main" id="{749A351B-3F8E-4CCC-86CC-BEB35417FF70}"/>
              </a:ext>
            </a:extLst>
          </p:cNvPr>
          <p:cNvSpPr>
            <a:spLocks xmlns:a="http://schemas.openxmlformats.org/drawingml/2006/main" noGrp="1"/>
          </p:cNvSpPr>
          <p:nvPr/>
        </p:nvSpPr>
        <p:spPr>
          <a:xfrm xmlns:a="http://schemas.openxmlformats.org/drawingml/2006/main">
            <a:off x="4591050" y="3857625"/>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101114"/>
                </a:solidFill>
                <a:latin typeface="Arial"/>
                <a:ea typeface="Arial"/>
                <a:cs typeface="Arial"/>
              </a:defRPr>
            </a:pPr>
            <a:r>
              <a:rPr sz="1500" b="1">
                <a:solidFill>
                  <a:srgbClr val="101114"/>
                </a:solidFill>
                <a:latin typeface="Arial"/>
                <a:ea typeface="Arial"/>
                <a:cs typeface="Arial"/>
              </a:rPr>
              <a:t>Track + test</a:t>
            </a:r>
          </a:p>
        </p:txBody>
      </p:sp>
      <p:sp>
        <p:nvSpPr>
          <p:cNvPr id="18" name="">
            <a:extLst xmlns:a="http://schemas.openxmlformats.org/drawingml/2006/main">
              <a:ext uri="{FF2B5EF4-FFF2-40B4-BE49-F238E27FC236}">
                <a16:creationId xmlns:a16="http://schemas.microsoft.com/office/drawing/2014/main" id="{5CB49602-CF5F-4CB8-B27D-A5C1907C3180}"/>
              </a:ext>
            </a:extLst>
          </p:cNvPr>
          <p:cNvSpPr>
            <a:spLocks xmlns:a="http://schemas.openxmlformats.org/drawingml/2006/main" noGrp="1"/>
          </p:cNvSpPr>
          <p:nvPr/>
        </p:nvSpPr>
        <p:spPr>
          <a:xfrm xmlns:a="http://schemas.openxmlformats.org/drawingml/2006/main">
            <a:off x="4591050" y="4286250"/>
            <a:ext cx="1524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MLflow and pytest</a:t>
            </a:r>
          </a:p>
        </p:txBody>
      </p:sp>
      <p:sp>
        <p:nvSpPr>
          <p:cNvPr id="19" name="">
            <a:extLst xmlns:a="http://schemas.openxmlformats.org/drawingml/2006/main">
              <a:ext uri="{FF2B5EF4-FFF2-40B4-BE49-F238E27FC236}">
                <a16:creationId xmlns:a16="http://schemas.microsoft.com/office/drawing/2014/main" id="{F61DB1B2-F298-4B7C-9ACD-C4174A74C76C}"/>
              </a:ext>
            </a:extLst>
          </p:cNvPr>
          <p:cNvSpPr>
            <a:spLocks xmlns:a="http://schemas.openxmlformats.org/drawingml/2006/main" noGrp="1"/>
          </p:cNvSpPr>
          <p:nvPr/>
        </p:nvSpPr>
        <p:spPr>
          <a:xfrm xmlns:a="http://schemas.openxmlformats.org/drawingml/2006/main">
            <a:off x="6877050" y="3095625"/>
            <a:ext cx="533400" cy="533400"/>
          </a:xfrm>
          <a:prstGeom xmlns:a="http://schemas.openxmlformats.org/drawingml/2006/main" prst="ellipse">
            <a:avLst/>
          </a:prstGeom>
          <a:solidFill xmlns:a="http://schemas.openxmlformats.org/drawingml/2006/main">
            <a:srgbClr val="101114"/>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9D69995-300E-4187-8E4C-4E8E762DB0A4}"/>
              </a:ext>
            </a:extLst>
          </p:cNvPr>
          <p:cNvSpPr>
            <a:spLocks xmlns:a="http://schemas.openxmlformats.org/drawingml/2006/main" noGrp="1"/>
          </p:cNvSpPr>
          <p:nvPr/>
        </p:nvSpPr>
        <p:spPr>
          <a:xfrm xmlns:a="http://schemas.openxmlformats.org/drawingml/2006/main">
            <a:off x="6877050" y="31813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159"/>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4</a:t>
            </a:r>
          </a:p>
        </p:txBody>
      </p:sp>
      <p:sp>
        <p:nvSpPr>
          <p:cNvPr id="21" name="">
            <a:extLst xmlns:a="http://schemas.openxmlformats.org/drawingml/2006/main">
              <a:ext uri="{FF2B5EF4-FFF2-40B4-BE49-F238E27FC236}">
                <a16:creationId xmlns:a16="http://schemas.microsoft.com/office/drawing/2014/main" id="{DFF515AD-536D-43B8-9E81-FD4E3C542526}"/>
              </a:ext>
            </a:extLst>
          </p:cNvPr>
          <p:cNvSpPr>
            <a:spLocks xmlns:a="http://schemas.openxmlformats.org/drawingml/2006/main" noGrp="1"/>
          </p:cNvSpPr>
          <p:nvPr/>
        </p:nvSpPr>
        <p:spPr>
          <a:xfrm xmlns:a="http://schemas.openxmlformats.org/drawingml/2006/main">
            <a:off x="6591300" y="3857625"/>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777"/>
          </a:bodyPr>
          <a:lstStyle xmlns:a="http://schemas.openxmlformats.org/drawingml/2006/main"/>
          <a:p xmlns:a="http://schemas.openxmlformats.org/drawingml/2006/main">
            <a:pPr algn="l">
              <a:defRPr sz="1500" b="1">
                <a:solidFill>
                  <a:srgbClr val="101114"/>
                </a:solidFill>
                <a:latin typeface="Arial"/>
                <a:ea typeface="Arial"/>
                <a:cs typeface="Arial"/>
              </a:defRPr>
            </a:pPr>
            <a:r>
              <a:rPr sz="1500" b="1">
                <a:solidFill>
                  <a:srgbClr val="101114"/>
                </a:solidFill>
                <a:latin typeface="Arial"/>
                <a:ea typeface="Arial"/>
                <a:cs typeface="Arial"/>
              </a:rPr>
              <a:t>Build + publish</a:t>
            </a:r>
          </a:p>
        </p:txBody>
      </p:sp>
      <p:sp>
        <p:nvSpPr>
          <p:cNvPr id="22" name="">
            <a:extLst xmlns:a="http://schemas.openxmlformats.org/drawingml/2006/main">
              <a:ext uri="{FF2B5EF4-FFF2-40B4-BE49-F238E27FC236}">
                <a16:creationId xmlns:a16="http://schemas.microsoft.com/office/drawing/2014/main" id="{312FFA33-DA8C-4458-B582-97E60CE53C9E}"/>
              </a:ext>
            </a:extLst>
          </p:cNvPr>
          <p:cNvSpPr>
            <a:spLocks xmlns:a="http://schemas.openxmlformats.org/drawingml/2006/main" noGrp="1"/>
          </p:cNvSpPr>
          <p:nvPr/>
        </p:nvSpPr>
        <p:spPr>
          <a:xfrm xmlns:a="http://schemas.openxmlformats.org/drawingml/2006/main">
            <a:off x="6591300" y="4286250"/>
            <a:ext cx="1524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Docker and GHCR</a:t>
            </a:r>
          </a:p>
        </p:txBody>
      </p:sp>
      <p:sp>
        <p:nvSpPr>
          <p:cNvPr id="23" name="">
            <a:extLst xmlns:a="http://schemas.openxmlformats.org/drawingml/2006/main">
              <a:ext uri="{FF2B5EF4-FFF2-40B4-BE49-F238E27FC236}">
                <a16:creationId xmlns:a16="http://schemas.microsoft.com/office/drawing/2014/main" id="{6EB0C69F-D1C6-44FE-8FFF-609907299D5E}"/>
              </a:ext>
            </a:extLst>
          </p:cNvPr>
          <p:cNvSpPr>
            <a:spLocks xmlns:a="http://schemas.openxmlformats.org/drawingml/2006/main" noGrp="1"/>
          </p:cNvSpPr>
          <p:nvPr/>
        </p:nvSpPr>
        <p:spPr>
          <a:xfrm xmlns:a="http://schemas.openxmlformats.org/drawingml/2006/main">
            <a:off x="8877300" y="3095625"/>
            <a:ext cx="533400" cy="533400"/>
          </a:xfrm>
          <a:prstGeom xmlns:a="http://schemas.openxmlformats.org/drawingml/2006/main" prst="ellipse">
            <a:avLst/>
          </a:prstGeom>
          <a:solidFill xmlns:a="http://schemas.openxmlformats.org/drawingml/2006/main">
            <a:srgbClr val="101114"/>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B1981D0-D249-48E5-A402-9902E9242C35}"/>
              </a:ext>
            </a:extLst>
          </p:cNvPr>
          <p:cNvSpPr>
            <a:spLocks xmlns:a="http://schemas.openxmlformats.org/drawingml/2006/main" noGrp="1"/>
          </p:cNvSpPr>
          <p:nvPr/>
        </p:nvSpPr>
        <p:spPr>
          <a:xfrm xmlns:a="http://schemas.openxmlformats.org/drawingml/2006/main">
            <a:off x="8877300" y="31813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159"/>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5</a:t>
            </a:r>
          </a:p>
        </p:txBody>
      </p:sp>
      <p:sp>
        <p:nvSpPr>
          <p:cNvPr id="25" name="">
            <a:extLst xmlns:a="http://schemas.openxmlformats.org/drawingml/2006/main">
              <a:ext uri="{FF2B5EF4-FFF2-40B4-BE49-F238E27FC236}">
                <a16:creationId xmlns:a16="http://schemas.microsoft.com/office/drawing/2014/main" id="{69060256-B2B4-49BA-9BB5-5AF77A760998}"/>
              </a:ext>
            </a:extLst>
          </p:cNvPr>
          <p:cNvSpPr>
            <a:spLocks xmlns:a="http://schemas.openxmlformats.org/drawingml/2006/main" noGrp="1"/>
          </p:cNvSpPr>
          <p:nvPr/>
        </p:nvSpPr>
        <p:spPr>
          <a:xfrm xmlns:a="http://schemas.openxmlformats.org/drawingml/2006/main">
            <a:off x="8591550" y="3857625"/>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482"/>
          </a:bodyPr>
          <a:lstStyle xmlns:a="http://schemas.openxmlformats.org/drawingml/2006/main"/>
          <a:p xmlns:a="http://schemas.openxmlformats.org/drawingml/2006/main">
            <a:pPr algn="l">
              <a:defRPr sz="1500" b="1">
                <a:solidFill>
                  <a:srgbClr val="101114"/>
                </a:solidFill>
                <a:latin typeface="Arial"/>
                <a:ea typeface="Arial"/>
                <a:cs typeface="Arial"/>
              </a:defRPr>
            </a:pPr>
            <a:r>
              <a:rPr sz="1500" b="1">
                <a:solidFill>
                  <a:srgbClr val="101114"/>
                </a:solidFill>
                <a:latin typeface="Arial"/>
                <a:ea typeface="Arial"/>
                <a:cs typeface="Arial"/>
              </a:rPr>
              <a:t>Deploy + verify</a:t>
            </a:r>
          </a:p>
        </p:txBody>
      </p:sp>
      <p:sp>
        <p:nvSpPr>
          <p:cNvPr id="26" name="">
            <a:extLst xmlns:a="http://schemas.openxmlformats.org/drawingml/2006/main">
              <a:ext uri="{FF2B5EF4-FFF2-40B4-BE49-F238E27FC236}">
                <a16:creationId xmlns:a16="http://schemas.microsoft.com/office/drawing/2014/main" id="{9E43D3D5-B590-45A6-9732-A3416F4BAB48}"/>
              </a:ext>
            </a:extLst>
          </p:cNvPr>
          <p:cNvSpPr>
            <a:spLocks xmlns:a="http://schemas.openxmlformats.org/drawingml/2006/main" noGrp="1"/>
          </p:cNvSpPr>
          <p:nvPr/>
        </p:nvSpPr>
        <p:spPr>
          <a:xfrm xmlns:a="http://schemas.openxmlformats.org/drawingml/2006/main">
            <a:off x="8591550" y="4286250"/>
            <a:ext cx="1524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Self-hosted runner</a:t>
            </a:r>
          </a:p>
        </p:txBody>
      </p:sp>
      <p:sp>
        <p:nvSpPr>
          <p:cNvPr id="27" name="">
            <a:extLst xmlns:a="http://schemas.openxmlformats.org/drawingml/2006/main">
              <a:ext uri="{FF2B5EF4-FFF2-40B4-BE49-F238E27FC236}">
                <a16:creationId xmlns:a16="http://schemas.microsoft.com/office/drawing/2014/main" id="{F266EACF-6256-48CD-AA4A-BB18E6982A8B}"/>
              </a:ext>
            </a:extLst>
          </p:cNvPr>
          <p:cNvSpPr>
            <a:spLocks xmlns:a="http://schemas.openxmlformats.org/drawingml/2006/main" noGrp="1"/>
          </p:cNvSpPr>
          <p:nvPr/>
        </p:nvSpPr>
        <p:spPr>
          <a:xfrm xmlns:a="http://schemas.openxmlformats.org/drawingml/2006/main">
            <a:off x="10877550" y="3095625"/>
            <a:ext cx="533400" cy="5334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EFB6A1D-F318-4813-9635-81046E32684E}"/>
              </a:ext>
            </a:extLst>
          </p:cNvPr>
          <p:cNvSpPr>
            <a:spLocks xmlns:a="http://schemas.openxmlformats.org/drawingml/2006/main" noGrp="1"/>
          </p:cNvSpPr>
          <p:nvPr/>
        </p:nvSpPr>
        <p:spPr>
          <a:xfrm xmlns:a="http://schemas.openxmlformats.org/drawingml/2006/main">
            <a:off x="10877550" y="3181350"/>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normAutofit fontScale="81159"/>
          </a:bodyPr>
          <a:lstStyle xmlns:a="http://schemas.openxmlformats.org/drawingml/2006/main"/>
          <a:p xmlns:a="http://schemas.openxmlformats.org/drawingml/2006/main">
            <a:pPr algn="ctr">
              <a:defRPr sz="1725" b="1">
                <a:solidFill>
                  <a:srgbClr val="FFFFFF"/>
                </a:solidFill>
                <a:latin typeface="Arial"/>
                <a:ea typeface="Arial"/>
                <a:cs typeface="Arial"/>
              </a:defRPr>
            </a:pPr>
            <a:r>
              <a:rPr sz="1725" b="1">
                <a:solidFill>
                  <a:srgbClr val="FFFFFF"/>
                </a:solidFill>
                <a:latin typeface="Arial"/>
                <a:ea typeface="Arial"/>
                <a:cs typeface="Arial"/>
              </a:rPr>
              <a:t>6</a:t>
            </a:r>
          </a:p>
        </p:txBody>
      </p:sp>
      <p:sp>
        <p:nvSpPr>
          <p:cNvPr id="29" name="">
            <a:extLst xmlns:a="http://schemas.openxmlformats.org/drawingml/2006/main">
              <a:ext uri="{FF2B5EF4-FFF2-40B4-BE49-F238E27FC236}">
                <a16:creationId xmlns:a16="http://schemas.microsoft.com/office/drawing/2014/main" id="{8586DA6E-D6BD-42B2-A898-692EBFA52AB0}"/>
              </a:ext>
            </a:extLst>
          </p:cNvPr>
          <p:cNvSpPr>
            <a:spLocks xmlns:a="http://schemas.openxmlformats.org/drawingml/2006/main" noGrp="1"/>
          </p:cNvSpPr>
          <p:nvPr/>
        </p:nvSpPr>
        <p:spPr>
          <a:xfrm xmlns:a="http://schemas.openxmlformats.org/drawingml/2006/main">
            <a:off x="10591800" y="3857625"/>
            <a:ext cx="142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9377"/>
          </a:bodyPr>
          <a:lstStyle xmlns:a="http://schemas.openxmlformats.org/drawingml/2006/main"/>
          <a:p xmlns:a="http://schemas.openxmlformats.org/drawingml/2006/main">
            <a:pPr algn="l">
              <a:defRPr sz="1500" b="1">
                <a:solidFill>
                  <a:srgbClr val="101114"/>
                </a:solidFill>
                <a:latin typeface="Arial"/>
                <a:ea typeface="Arial"/>
                <a:cs typeface="Arial"/>
              </a:defRPr>
            </a:pPr>
            <a:r>
              <a:rPr sz="1500" b="1">
                <a:solidFill>
                  <a:srgbClr val="101114"/>
                </a:solidFill>
                <a:latin typeface="Arial"/>
                <a:ea typeface="Arial"/>
                <a:cs typeface="Arial"/>
              </a:rPr>
              <a:t>Predict + monitor</a:t>
            </a:r>
          </a:p>
        </p:txBody>
      </p:sp>
      <p:sp>
        <p:nvSpPr>
          <p:cNvPr id="30" name="">
            <a:extLst xmlns:a="http://schemas.openxmlformats.org/drawingml/2006/main">
              <a:ext uri="{FF2B5EF4-FFF2-40B4-BE49-F238E27FC236}">
                <a16:creationId xmlns:a16="http://schemas.microsoft.com/office/drawing/2014/main" id="{17610C93-D828-4460-88D7-055D345DD619}"/>
              </a:ext>
            </a:extLst>
          </p:cNvPr>
          <p:cNvSpPr>
            <a:spLocks xmlns:a="http://schemas.openxmlformats.org/drawingml/2006/main" noGrp="1"/>
          </p:cNvSpPr>
          <p:nvPr/>
        </p:nvSpPr>
        <p:spPr>
          <a:xfrm xmlns:a="http://schemas.openxmlformats.org/drawingml/2006/main">
            <a:off x="10591800" y="4286250"/>
            <a:ext cx="1524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API and Prometheus</a:t>
            </a:r>
          </a:p>
        </p:txBody>
      </p:sp>
      <p:sp>
        <p:nvSpPr>
          <p:cNvPr id="31" name="">
            <a:extLst xmlns:a="http://schemas.openxmlformats.org/drawingml/2006/main">
              <a:ext uri="{FF2B5EF4-FFF2-40B4-BE49-F238E27FC236}">
                <a16:creationId xmlns:a16="http://schemas.microsoft.com/office/drawing/2014/main" id="{9A147739-F2DC-4756-B7A4-5565578841CD}"/>
              </a:ext>
            </a:extLst>
          </p:cNvPr>
          <p:cNvSpPr>
            <a:spLocks xmlns:a="http://schemas.openxmlformats.org/drawingml/2006/main" noGrp="1"/>
          </p:cNvSpPr>
          <p:nvPr/>
        </p:nvSpPr>
        <p:spPr>
          <a:xfrm xmlns:a="http://schemas.openxmlformats.org/drawingml/2006/main">
            <a:off x="1238250" y="5219700"/>
            <a:ext cx="971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210"/>
          </a:bodyPr>
          <a:lstStyle xmlns:a="http://schemas.openxmlformats.org/drawingml/2006/main"/>
          <a:p xmlns:a="http://schemas.openxmlformats.org/drawingml/2006/main">
            <a:pPr algn="ctr">
              <a:defRPr sz="2025" b="1">
                <a:solidFill>
                  <a:srgbClr val="101114"/>
                </a:solidFill>
                <a:latin typeface="Arial"/>
                <a:ea typeface="Arial"/>
                <a:cs typeface="Arial"/>
              </a:defRPr>
            </a:pPr>
            <a:r>
              <a:rPr sz="2025" b="1">
                <a:solidFill>
                  <a:srgbClr val="101114"/>
                </a:solidFill>
                <a:latin typeface="Arial"/>
                <a:ea typeface="Arial"/>
                <a:cs typeface="Arial"/>
              </a:rPr>
              <a:t>The assignment outcome is not only a trained model—it is a traceable path from change to live prediction.</a:t>
            </a:r>
          </a:p>
        </p:txBody>
      </p:sp>
    </p:spTree>
    <p:extLst>
      <p:ext uri="{BB962C8B-B14F-4D97-AF65-F5344CB8AC3E}">
        <p14:creationId xmlns:p14="http://schemas.microsoft.com/office/powerpoint/2010/main" val="117419056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71DB55B-6D0E-4834-8328-B531558F849A}"/>
              </a:ext>
            </a:extLst>
          </p:cNvPr>
          <p:cNvSpPr>
            <a:spLocks xmlns:a="http://schemas.openxmlformats.org/drawingml/2006/main" noGrp="1"/>
          </p:cNvSpPr>
          <p:nvPr/>
        </p:nvSpPr>
        <p:spPr>
          <a:xfrm xmlns:a="http://schemas.openxmlformats.org/drawingml/2006/main">
            <a:off x="457200" y="2667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5E6673"/>
                </a:solidFill>
                <a:latin typeface="Arial"/>
                <a:ea typeface="Arial"/>
                <a:cs typeface="Arial"/>
              </a:defRPr>
            </a:pPr>
            <a:r>
              <a:rPr sz="1125" b="1">
                <a:solidFill>
                  <a:srgbClr val="5E6673"/>
                </a:solidFill>
                <a:latin typeface="Arial"/>
                <a:ea typeface="Arial"/>
                <a:cs typeface="Arial"/>
              </a:rPr>
              <a:t>CATS VS DOGS MLOPS</a:t>
            </a:r>
          </a:p>
        </p:txBody>
      </p:sp>
      <p:sp>
        <p:nvSpPr>
          <p:cNvPr id="2" name="">
            <a:extLst xmlns:a="http://schemas.openxmlformats.org/drawingml/2006/main">
              <a:ext uri="{FF2B5EF4-FFF2-40B4-BE49-F238E27FC236}">
                <a16:creationId xmlns:a16="http://schemas.microsoft.com/office/drawing/2014/main" id="{120C2728-9C79-4BEA-8466-C5F1735800E3}"/>
              </a:ext>
            </a:extLst>
          </p:cNvPr>
          <p:cNvSpPr>
            <a:spLocks xmlns:a="http://schemas.openxmlformats.org/drawingml/2006/main" noGrp="1"/>
          </p:cNvSpPr>
          <p:nvPr/>
        </p:nvSpPr>
        <p:spPr>
          <a:xfrm xmlns:a="http://schemas.openxmlformats.org/drawingml/2006/main">
            <a:off x="457200" y="628650"/>
            <a:ext cx="110966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101114"/>
                </a:solidFill>
                <a:latin typeface="Arial"/>
                <a:ea typeface="Arial"/>
                <a:cs typeface="Arial"/>
              </a:defRPr>
            </a:pPr>
            <a:r>
              <a:rPr sz="2925" b="1">
                <a:solidFill>
                  <a:srgbClr val="101114"/>
                </a:solidFill>
                <a:latin typeface="Arial"/>
                <a:ea typeface="Arial"/>
                <a:cs typeface="Arial"/>
              </a:rPr>
              <a:t>Reproducibility is built into data, experiments and tests</a:t>
            </a:r>
          </a:p>
        </p:txBody>
      </p:sp>
      <p:sp>
        <p:nvSpPr>
          <p:cNvPr id="3" name="">
            <a:extLst xmlns:a="http://schemas.openxmlformats.org/drawingml/2006/main">
              <a:ext uri="{FF2B5EF4-FFF2-40B4-BE49-F238E27FC236}">
                <a16:creationId xmlns:a16="http://schemas.microsoft.com/office/drawing/2014/main" id="{3DFDCC2F-D255-4C87-B724-02852806C9ED}"/>
              </a:ext>
            </a:extLst>
          </p:cNvPr>
          <p:cNvSpPr>
            <a:spLocks xmlns:a="http://schemas.openxmlformats.org/drawingml/2006/main" noGrp="1"/>
          </p:cNvSpPr>
          <p:nvPr/>
        </p:nvSpPr>
        <p:spPr>
          <a:xfrm xmlns:a="http://schemas.openxmlformats.org/drawingml/2006/main">
            <a:off x="457200" y="1495425"/>
            <a:ext cx="112776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C84C3A1D-55F1-4F90-BDFC-AD583A9A72B9}"/>
              </a:ext>
            </a:extLst>
          </p:cNvPr>
          <p:cNvSpPr>
            <a:spLocks xmlns:a="http://schemas.openxmlformats.org/drawingml/2006/main" noGrp="1"/>
          </p:cNvSpPr>
          <p:nvPr/>
        </p:nvSpPr>
        <p:spPr>
          <a:xfrm xmlns:a="http://schemas.openxmlformats.org/drawingml/2006/main">
            <a:off x="457200" y="64960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E6673"/>
                </a:solidFill>
                <a:latin typeface="Arial"/>
                <a:ea typeface="Arial"/>
                <a:cs typeface="Arial"/>
              </a:defRPr>
            </a:pPr>
            <a:r>
              <a:rPr sz="900" b="0">
                <a:solidFill>
                  <a:srgbClr val="5E6673"/>
                </a:solidFill>
                <a:latin typeface="Arial"/>
                <a:ea typeface="Arial"/>
                <a:cs typeface="Arial"/>
              </a:rPr>
              <a:t>Navneet Kang  |  MLOps assignment</a:t>
            </a:r>
          </a:p>
        </p:txBody>
      </p:sp>
      <p:sp>
        <p:nvSpPr>
          <p:cNvPr id="5" name="">
            <a:extLst xmlns:a="http://schemas.openxmlformats.org/drawingml/2006/main">
              <a:ext uri="{FF2B5EF4-FFF2-40B4-BE49-F238E27FC236}">
                <a16:creationId xmlns:a16="http://schemas.microsoft.com/office/drawing/2014/main" id="{41A2C242-7847-46C8-8498-8A31215F04C3}"/>
              </a:ext>
            </a:extLst>
          </p:cNvPr>
          <p:cNvSpPr>
            <a:spLocks xmlns:a="http://schemas.openxmlformats.org/drawingml/2006/main" noGrp="1"/>
          </p:cNvSpPr>
          <p:nvPr/>
        </p:nvSpPr>
        <p:spPr>
          <a:xfrm xmlns:a="http://schemas.openxmlformats.org/drawingml/2006/main">
            <a:off x="112776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r">
              <a:defRPr sz="900" b="0">
                <a:solidFill>
                  <a:srgbClr val="5E6673"/>
                </a:solidFill>
                <a:latin typeface="Arial"/>
                <a:ea typeface="Arial"/>
                <a:cs typeface="Arial"/>
              </a:defRPr>
            </a:pPr>
            <a:r>
              <a:rPr sz="900" b="0">
                <a:solidFill>
                  <a:srgbClr val="5E6673"/>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69B98E4A-D1E6-46E8-B89B-C9FCAEAA14EC}"/>
              </a:ext>
            </a:extLst>
          </p:cNvPr>
          <p:cNvSpPr>
            <a:spLocks xmlns:a="http://schemas.openxmlformats.org/drawingml/2006/main" noGrp="1"/>
          </p:cNvSpPr>
          <p:nvPr/>
        </p:nvSpPr>
        <p:spPr>
          <a:xfrm xmlns:a="http://schemas.openxmlformats.org/drawingml/2006/main">
            <a:off x="457200" y="2076450"/>
            <a:ext cx="3429000" cy="2857500"/>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42BB991A-0BA1-4D57-9411-82D3AC55A739}"/>
              </a:ext>
            </a:extLst>
          </p:cNvPr>
          <p:cNvSpPr>
            <a:spLocks xmlns:a="http://schemas.openxmlformats.org/drawingml/2006/main" noGrp="1"/>
          </p:cNvSpPr>
          <p:nvPr/>
        </p:nvSpPr>
        <p:spPr>
          <a:xfrm xmlns:a="http://schemas.openxmlformats.org/drawingml/2006/main">
            <a:off x="666750" y="22860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01</a:t>
            </a:r>
          </a:p>
        </p:txBody>
      </p:sp>
      <p:sp>
        <p:nvSpPr>
          <p:cNvPr id="8" name="">
            <a:extLst xmlns:a="http://schemas.openxmlformats.org/drawingml/2006/main">
              <a:ext uri="{FF2B5EF4-FFF2-40B4-BE49-F238E27FC236}">
                <a16:creationId xmlns:a16="http://schemas.microsoft.com/office/drawing/2014/main" id="{48C63D0A-D3B2-4743-9DEF-4DF8D07CA9F6}"/>
              </a:ext>
            </a:extLst>
          </p:cNvPr>
          <p:cNvSpPr>
            <a:spLocks xmlns:a="http://schemas.openxmlformats.org/drawingml/2006/main" noGrp="1"/>
          </p:cNvSpPr>
          <p:nvPr/>
        </p:nvSpPr>
        <p:spPr>
          <a:xfrm xmlns:a="http://schemas.openxmlformats.org/drawingml/2006/main">
            <a:off x="666750" y="27051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a:solidFill>
                  <a:srgbClr val="101114"/>
                </a:solidFill>
                <a:latin typeface="Arial"/>
                <a:ea typeface="Arial"/>
                <a:cs typeface="Arial"/>
              </a:defRPr>
            </a:pPr>
            <a:r>
              <a:rPr sz="2250" b="1">
                <a:solidFill>
                  <a:srgbClr val="101114"/>
                </a:solidFill>
                <a:latin typeface="Arial"/>
                <a:ea typeface="Arial"/>
                <a:cs typeface="Arial"/>
              </a:rPr>
              <a:t>Git + DVC</a:t>
            </a:r>
          </a:p>
        </p:txBody>
      </p:sp>
      <p:sp>
        <p:nvSpPr>
          <p:cNvPr id="9" name="">
            <a:extLst xmlns:a="http://schemas.openxmlformats.org/drawingml/2006/main">
              <a:ext uri="{FF2B5EF4-FFF2-40B4-BE49-F238E27FC236}">
                <a16:creationId xmlns:a16="http://schemas.microsoft.com/office/drawing/2014/main" id="{C815C0D9-C8EC-40B4-B0A6-F57CB1F77912}"/>
              </a:ext>
            </a:extLst>
          </p:cNvPr>
          <p:cNvSpPr>
            <a:spLocks xmlns:a="http://schemas.openxmlformats.org/drawingml/2006/main" noGrp="1"/>
          </p:cNvSpPr>
          <p:nvPr/>
        </p:nvSpPr>
        <p:spPr>
          <a:xfrm xmlns:a="http://schemas.openxmlformats.org/drawingml/2006/main">
            <a:off x="666750" y="3295650"/>
            <a:ext cx="295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5E6673"/>
                </a:solidFill>
                <a:latin typeface="Arial"/>
                <a:ea typeface="Arial"/>
                <a:cs typeface="Arial"/>
              </a:defRPr>
            </a:pPr>
            <a:r>
              <a:rPr sz="1425" b="0">
                <a:solidFill>
                  <a:srgbClr val="5E6673"/>
                </a:solidFill>
                <a:latin typeface="Arial"/>
                <a:ea typeface="Arial"/>
                <a:cs typeface="Arial"/>
              </a:rPr>
              <a:t>Source code is tracked in Git. Raw image folders are referenced by DVC, while dvc.yaml defines prepare and train stages.</a:t>
            </a:r>
          </a:p>
        </p:txBody>
      </p:sp>
      <p:sp>
        <p:nvSpPr>
          <p:cNvPr id="10" name="">
            <a:extLst xmlns:a="http://schemas.openxmlformats.org/drawingml/2006/main">
              <a:ext uri="{FF2B5EF4-FFF2-40B4-BE49-F238E27FC236}">
                <a16:creationId xmlns:a16="http://schemas.microsoft.com/office/drawing/2014/main" id="{077F1693-3185-4290-9FAD-31A406A57CBC}"/>
              </a:ext>
            </a:extLst>
          </p:cNvPr>
          <p:cNvSpPr>
            <a:spLocks xmlns:a="http://schemas.openxmlformats.org/drawingml/2006/main" noGrp="1"/>
          </p:cNvSpPr>
          <p:nvPr/>
        </p:nvSpPr>
        <p:spPr>
          <a:xfrm xmlns:a="http://schemas.openxmlformats.org/drawingml/2006/main">
            <a:off x="666750" y="4476750"/>
            <a:ext cx="3000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Evidence: dvc.yaml, data/raw.dvc</a:t>
            </a:r>
          </a:p>
        </p:txBody>
      </p:sp>
      <p:sp>
        <p:nvSpPr>
          <p:cNvPr id="11" name="">
            <a:extLst xmlns:a="http://schemas.openxmlformats.org/drawingml/2006/main">
              <a:ext uri="{FF2B5EF4-FFF2-40B4-BE49-F238E27FC236}">
                <a16:creationId xmlns:a16="http://schemas.microsoft.com/office/drawing/2014/main" id="{650E73C7-A372-4356-9791-DEC9DC270FEB}"/>
              </a:ext>
            </a:extLst>
          </p:cNvPr>
          <p:cNvSpPr>
            <a:spLocks xmlns:a="http://schemas.openxmlformats.org/drawingml/2006/main" noGrp="1"/>
          </p:cNvSpPr>
          <p:nvPr/>
        </p:nvSpPr>
        <p:spPr>
          <a:xfrm xmlns:a="http://schemas.openxmlformats.org/drawingml/2006/main">
            <a:off x="4305300" y="2076450"/>
            <a:ext cx="3429000" cy="285750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CE9D3E02-CD8E-4B04-8808-6779DD8F2583}"/>
              </a:ext>
            </a:extLst>
          </p:cNvPr>
          <p:cNvSpPr>
            <a:spLocks xmlns:a="http://schemas.openxmlformats.org/drawingml/2006/main" noGrp="1"/>
          </p:cNvSpPr>
          <p:nvPr/>
        </p:nvSpPr>
        <p:spPr>
          <a:xfrm xmlns:a="http://schemas.openxmlformats.org/drawingml/2006/main">
            <a:off x="4514850" y="22860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02</a:t>
            </a:r>
          </a:p>
        </p:txBody>
      </p:sp>
      <p:sp>
        <p:nvSpPr>
          <p:cNvPr id="13" name="">
            <a:extLst xmlns:a="http://schemas.openxmlformats.org/drawingml/2006/main">
              <a:ext uri="{FF2B5EF4-FFF2-40B4-BE49-F238E27FC236}">
                <a16:creationId xmlns:a16="http://schemas.microsoft.com/office/drawing/2014/main" id="{68AF16E1-477E-4325-8DEC-06A64C2BA43E}"/>
              </a:ext>
            </a:extLst>
          </p:cNvPr>
          <p:cNvSpPr>
            <a:spLocks xmlns:a="http://schemas.openxmlformats.org/drawingml/2006/main" noGrp="1"/>
          </p:cNvSpPr>
          <p:nvPr/>
        </p:nvSpPr>
        <p:spPr>
          <a:xfrm xmlns:a="http://schemas.openxmlformats.org/drawingml/2006/main">
            <a:off x="4514850" y="27051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a:solidFill>
                  <a:srgbClr val="101114"/>
                </a:solidFill>
                <a:latin typeface="Arial"/>
                <a:ea typeface="Arial"/>
                <a:cs typeface="Arial"/>
              </a:defRPr>
            </a:pPr>
            <a:r>
              <a:rPr sz="2250" b="1">
                <a:solidFill>
                  <a:srgbClr val="101114"/>
                </a:solidFill>
                <a:latin typeface="Arial"/>
                <a:ea typeface="Arial"/>
                <a:cs typeface="Arial"/>
              </a:rPr>
              <a:t>MLflow</a:t>
            </a:r>
          </a:p>
        </p:txBody>
      </p:sp>
      <p:sp>
        <p:nvSpPr>
          <p:cNvPr id="14" name="">
            <a:extLst xmlns:a="http://schemas.openxmlformats.org/drawingml/2006/main">
              <a:ext uri="{FF2B5EF4-FFF2-40B4-BE49-F238E27FC236}">
                <a16:creationId xmlns:a16="http://schemas.microsoft.com/office/drawing/2014/main" id="{CE6AC21B-34D0-4FE5-BB54-455DFB270ED8}"/>
              </a:ext>
            </a:extLst>
          </p:cNvPr>
          <p:cNvSpPr>
            <a:spLocks xmlns:a="http://schemas.openxmlformats.org/drawingml/2006/main" noGrp="1"/>
          </p:cNvSpPr>
          <p:nvPr/>
        </p:nvSpPr>
        <p:spPr>
          <a:xfrm xmlns:a="http://schemas.openxmlformats.org/drawingml/2006/main">
            <a:off x="4514850" y="3295650"/>
            <a:ext cx="295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5E6673"/>
                </a:solidFill>
                <a:latin typeface="Arial"/>
                <a:ea typeface="Arial"/>
                <a:cs typeface="Arial"/>
              </a:defRPr>
            </a:pPr>
            <a:r>
              <a:rPr sz="1425" b="0">
                <a:solidFill>
                  <a:srgbClr val="5E6673"/>
                </a:solidFill>
                <a:latin typeface="Arial"/>
                <a:ea typeface="Arial"/>
                <a:cs typeface="Arial"/>
              </a:rPr>
              <a:t>Training parameters, validation history, test metrics, plots and the serialized model are recorded together.</a:t>
            </a:r>
          </a:p>
        </p:txBody>
      </p:sp>
      <p:sp>
        <p:nvSpPr>
          <p:cNvPr id="15" name="">
            <a:extLst xmlns:a="http://schemas.openxmlformats.org/drawingml/2006/main">
              <a:ext uri="{FF2B5EF4-FFF2-40B4-BE49-F238E27FC236}">
                <a16:creationId xmlns:a16="http://schemas.microsoft.com/office/drawing/2014/main" id="{369639D1-4DCD-4EC1-87C9-0852E3308017}"/>
              </a:ext>
            </a:extLst>
          </p:cNvPr>
          <p:cNvSpPr>
            <a:spLocks xmlns:a="http://schemas.openxmlformats.org/drawingml/2006/main" noGrp="1"/>
          </p:cNvSpPr>
          <p:nvPr/>
        </p:nvSpPr>
        <p:spPr>
          <a:xfrm xmlns:a="http://schemas.openxmlformats.org/drawingml/2006/main">
            <a:off x="4514850" y="4476750"/>
            <a:ext cx="3000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Evidence: src/catsdogs/train.py</a:t>
            </a:r>
          </a:p>
        </p:txBody>
      </p:sp>
      <p:sp>
        <p:nvSpPr>
          <p:cNvPr id="16" name="">
            <a:extLst xmlns:a="http://schemas.openxmlformats.org/drawingml/2006/main">
              <a:ext uri="{FF2B5EF4-FFF2-40B4-BE49-F238E27FC236}">
                <a16:creationId xmlns:a16="http://schemas.microsoft.com/office/drawing/2014/main" id="{39852464-05A3-4AD5-9D22-5D8F53F208E2}"/>
              </a:ext>
            </a:extLst>
          </p:cNvPr>
          <p:cNvSpPr>
            <a:spLocks xmlns:a="http://schemas.openxmlformats.org/drawingml/2006/main" noGrp="1"/>
          </p:cNvSpPr>
          <p:nvPr/>
        </p:nvSpPr>
        <p:spPr>
          <a:xfrm xmlns:a="http://schemas.openxmlformats.org/drawingml/2006/main">
            <a:off x="8153400" y="2076450"/>
            <a:ext cx="3429000" cy="2857500"/>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sp>
      <p:sp>
        <p:nvSpPr>
          <p:cNvPr id="17" name="">
            <a:extLst xmlns:a="http://schemas.openxmlformats.org/drawingml/2006/main">
              <a:ext uri="{FF2B5EF4-FFF2-40B4-BE49-F238E27FC236}">
                <a16:creationId xmlns:a16="http://schemas.microsoft.com/office/drawing/2014/main" id="{BF43F3D4-E71A-475A-B68F-2E21331D3AD6}"/>
              </a:ext>
            </a:extLst>
          </p:cNvPr>
          <p:cNvSpPr>
            <a:spLocks xmlns:a="http://schemas.openxmlformats.org/drawingml/2006/main" noGrp="1"/>
          </p:cNvSpPr>
          <p:nvPr/>
        </p:nvSpPr>
        <p:spPr>
          <a:xfrm xmlns:a="http://schemas.openxmlformats.org/drawingml/2006/main">
            <a:off x="8362950" y="2286000"/>
            <a:ext cx="476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defRPr sz="1275" b="1">
                <a:solidFill>
                  <a:srgbClr val="3D8DFF"/>
                </a:solidFill>
                <a:latin typeface="Arial"/>
                <a:ea typeface="Arial"/>
                <a:cs typeface="Arial"/>
              </a:defRPr>
            </a:pPr>
            <a:r>
              <a:rPr sz="1275" b="1">
                <a:solidFill>
                  <a:srgbClr val="3D8DFF"/>
                </a:solidFill>
                <a:latin typeface="Arial"/>
                <a:ea typeface="Arial"/>
                <a:cs typeface="Arial"/>
              </a:rPr>
              <a:t>03</a:t>
            </a:r>
          </a:p>
        </p:txBody>
      </p:sp>
      <p:sp>
        <p:nvSpPr>
          <p:cNvPr id="18" name="">
            <a:extLst xmlns:a="http://schemas.openxmlformats.org/drawingml/2006/main">
              <a:ext uri="{FF2B5EF4-FFF2-40B4-BE49-F238E27FC236}">
                <a16:creationId xmlns:a16="http://schemas.microsoft.com/office/drawing/2014/main" id="{063587E3-7798-460F-9135-CEBC883F21A9}"/>
              </a:ext>
            </a:extLst>
          </p:cNvPr>
          <p:cNvSpPr>
            <a:spLocks xmlns:a="http://schemas.openxmlformats.org/drawingml/2006/main" noGrp="1"/>
          </p:cNvSpPr>
          <p:nvPr/>
        </p:nvSpPr>
        <p:spPr>
          <a:xfrm xmlns:a="http://schemas.openxmlformats.org/drawingml/2006/main">
            <a:off x="8362950" y="270510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250" b="1">
                <a:solidFill>
                  <a:srgbClr val="101114"/>
                </a:solidFill>
                <a:latin typeface="Arial"/>
                <a:ea typeface="Arial"/>
                <a:cs typeface="Arial"/>
              </a:defRPr>
            </a:pPr>
            <a:r>
              <a:rPr sz="2250" b="1">
                <a:solidFill>
                  <a:srgbClr val="101114"/>
                </a:solidFill>
                <a:latin typeface="Arial"/>
                <a:ea typeface="Arial"/>
                <a:cs typeface="Arial"/>
              </a:rPr>
              <a:t>Automated tests</a:t>
            </a:r>
          </a:p>
        </p:txBody>
      </p:sp>
      <p:sp>
        <p:nvSpPr>
          <p:cNvPr id="19" name="">
            <a:extLst xmlns:a="http://schemas.openxmlformats.org/drawingml/2006/main">
              <a:ext uri="{FF2B5EF4-FFF2-40B4-BE49-F238E27FC236}">
                <a16:creationId xmlns:a16="http://schemas.microsoft.com/office/drawing/2014/main" id="{08CFC036-EAE6-4A33-8C56-433DFDAA2295}"/>
              </a:ext>
            </a:extLst>
          </p:cNvPr>
          <p:cNvSpPr>
            <a:spLocks xmlns:a="http://schemas.openxmlformats.org/drawingml/2006/main" noGrp="1"/>
          </p:cNvSpPr>
          <p:nvPr/>
        </p:nvSpPr>
        <p:spPr>
          <a:xfrm xmlns:a="http://schemas.openxmlformats.org/drawingml/2006/main">
            <a:off x="8362950" y="3295650"/>
            <a:ext cx="295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5E6673"/>
                </a:solidFill>
                <a:latin typeface="Arial"/>
                <a:ea typeface="Arial"/>
                <a:cs typeface="Arial"/>
              </a:defRPr>
            </a:pPr>
            <a:r>
              <a:rPr sz="1425" b="0">
                <a:solidFill>
                  <a:srgbClr val="5E6673"/>
                </a:solidFill>
                <a:latin typeface="Arial"/>
                <a:ea typeface="Arial"/>
                <a:cs typeface="Arial"/>
              </a:rPr>
              <a:t>Tests validate preprocessing and the prediction response. CI runs pytest before publishing an image.</a:t>
            </a:r>
          </a:p>
        </p:txBody>
      </p:sp>
      <p:sp>
        <p:nvSpPr>
          <p:cNvPr id="20" name="">
            <a:extLst xmlns:a="http://schemas.openxmlformats.org/drawingml/2006/main">
              <a:ext uri="{FF2B5EF4-FFF2-40B4-BE49-F238E27FC236}">
                <a16:creationId xmlns:a16="http://schemas.microsoft.com/office/drawing/2014/main" id="{C3E39E79-C65A-4E41-A64C-4BC4C6FB0A89}"/>
              </a:ext>
            </a:extLst>
          </p:cNvPr>
          <p:cNvSpPr>
            <a:spLocks xmlns:a="http://schemas.openxmlformats.org/drawingml/2006/main" noGrp="1"/>
          </p:cNvSpPr>
          <p:nvPr/>
        </p:nvSpPr>
        <p:spPr>
          <a:xfrm xmlns:a="http://schemas.openxmlformats.org/drawingml/2006/main">
            <a:off x="8362950" y="4476750"/>
            <a:ext cx="3000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1">
                <a:solidFill>
                  <a:srgbClr val="3D8DFF"/>
                </a:solidFill>
                <a:latin typeface="Arial"/>
                <a:ea typeface="Arial"/>
                <a:cs typeface="Arial"/>
              </a:defRPr>
            </a:pPr>
            <a:r>
              <a:rPr sz="1050" b="1">
                <a:solidFill>
                  <a:srgbClr val="3D8DFF"/>
                </a:solidFill>
                <a:latin typeface="Arial"/>
                <a:ea typeface="Arial"/>
                <a:cs typeface="Arial"/>
              </a:rPr>
              <a:t>Evidence: tests/ and ci-cd.yml</a:t>
            </a:r>
          </a:p>
        </p:txBody>
      </p:sp>
      <p:sp>
        <p:nvSpPr>
          <p:cNvPr id="21" name="">
            <a:extLst xmlns:a="http://schemas.openxmlformats.org/drawingml/2006/main">
              <a:ext uri="{FF2B5EF4-FFF2-40B4-BE49-F238E27FC236}">
                <a16:creationId xmlns:a16="http://schemas.microsoft.com/office/drawing/2014/main" id="{D6C399B7-5A35-4706-9590-6DFA141D8139}"/>
              </a:ext>
            </a:extLst>
          </p:cNvPr>
          <p:cNvSpPr>
            <a:spLocks xmlns:a="http://schemas.openxmlformats.org/drawingml/2006/main" noGrp="1"/>
          </p:cNvSpPr>
          <p:nvPr/>
        </p:nvSpPr>
        <p:spPr>
          <a:xfrm xmlns:a="http://schemas.openxmlformats.org/drawingml/2006/main">
            <a:off x="457200" y="5286375"/>
            <a:ext cx="11125200" cy="590550"/>
          </a:xfrm>
          <a:prstGeom xmlns:a="http://schemas.openxmlformats.org/drawingml/2006/main" prst="rect">
            <a:avLst/>
          </a:prstGeom>
          <a:solidFill xmlns:a="http://schemas.openxmlformats.org/drawingml/2006/main">
            <a:srgbClr val="FFF2D8"/>
          </a:solidFill>
          <a:ln xmlns:a="http://schemas.openxmlformats.org/drawingml/2006/main" w="9525">
            <a:solidFill>
              <a:srgbClr val="A95F00"/>
            </a:solidFill>
            <a:prstDash val="solid"/>
          </a:ln>
        </p:spPr>
      </p:sp>
      <p:sp>
        <p:nvSpPr>
          <p:cNvPr id="22" name="">
            <a:extLst xmlns:a="http://schemas.openxmlformats.org/drawingml/2006/main">
              <a:ext uri="{FF2B5EF4-FFF2-40B4-BE49-F238E27FC236}">
                <a16:creationId xmlns:a16="http://schemas.microsoft.com/office/drawing/2014/main" id="{E6C0688F-1C8B-42FC-A836-D1ADF03DC0B6}"/>
              </a:ext>
            </a:extLst>
          </p:cNvPr>
          <p:cNvSpPr>
            <a:spLocks xmlns:a="http://schemas.openxmlformats.org/drawingml/2006/main" noGrp="1"/>
          </p:cNvSpPr>
          <p:nvPr/>
        </p:nvSpPr>
        <p:spPr>
          <a:xfrm xmlns:a="http://schemas.openxmlformats.org/drawingml/2006/main">
            <a:off x="666750" y="5438775"/>
            <a:ext cx="10706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A95F00"/>
                </a:solidFill>
                <a:latin typeface="Arial"/>
                <a:ea typeface="Arial"/>
                <a:cs typeface="Arial"/>
              </a:defRPr>
            </a:pPr>
            <a:r>
              <a:rPr sz="1350" b="1">
                <a:solidFill>
                  <a:srgbClr val="A95F00"/>
                </a:solidFill>
                <a:latin typeface="Arial"/>
                <a:ea typeface="Arial"/>
                <a:cs typeface="Arial"/>
              </a:rPr>
              <a:t>Before final submission: remove the unresolved conflict markers from dvc.lock and confirm dvc status succeeds.</a:t>
            </a:r>
          </a:p>
        </p:txBody>
      </p:sp>
    </p:spTree>
    <p:extLst>
      <p:ext uri="{BB962C8B-B14F-4D97-AF65-F5344CB8AC3E}">
        <p14:creationId xmlns:p14="http://schemas.microsoft.com/office/powerpoint/2010/main" val="45806686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A9E08F8-8B66-4E87-9FB8-A3861222E310}"/>
              </a:ext>
            </a:extLst>
          </p:cNvPr>
          <p:cNvSpPr>
            <a:spLocks xmlns:a="http://schemas.openxmlformats.org/drawingml/2006/main" noGrp="1"/>
          </p:cNvSpPr>
          <p:nvPr/>
        </p:nvSpPr>
        <p:spPr>
          <a:xfrm xmlns:a="http://schemas.openxmlformats.org/drawingml/2006/main">
            <a:off x="457200" y="2667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5E6673"/>
                </a:solidFill>
                <a:latin typeface="Arial"/>
                <a:ea typeface="Arial"/>
                <a:cs typeface="Arial"/>
              </a:defRPr>
            </a:pPr>
            <a:r>
              <a:rPr sz="1125" b="1">
                <a:solidFill>
                  <a:srgbClr val="5E6673"/>
                </a:solidFill>
                <a:latin typeface="Arial"/>
                <a:ea typeface="Arial"/>
                <a:cs typeface="Arial"/>
              </a:rPr>
              <a:t>CATS VS DOGS MLOPS</a:t>
            </a:r>
          </a:p>
        </p:txBody>
      </p:sp>
      <p:sp>
        <p:nvSpPr>
          <p:cNvPr id="2" name="">
            <a:extLst xmlns:a="http://schemas.openxmlformats.org/drawingml/2006/main">
              <a:ext uri="{FF2B5EF4-FFF2-40B4-BE49-F238E27FC236}">
                <a16:creationId xmlns:a16="http://schemas.microsoft.com/office/drawing/2014/main" id="{69FBC8AD-57FD-49A1-B781-032546C6F339}"/>
              </a:ext>
            </a:extLst>
          </p:cNvPr>
          <p:cNvSpPr>
            <a:spLocks xmlns:a="http://schemas.openxmlformats.org/drawingml/2006/main" noGrp="1"/>
          </p:cNvSpPr>
          <p:nvPr/>
        </p:nvSpPr>
        <p:spPr>
          <a:xfrm xmlns:a="http://schemas.openxmlformats.org/drawingml/2006/main">
            <a:off x="457200" y="628650"/>
            <a:ext cx="110966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101114"/>
                </a:solidFill>
                <a:latin typeface="Arial"/>
                <a:ea typeface="Arial"/>
                <a:cs typeface="Arial"/>
              </a:defRPr>
            </a:pPr>
            <a:r>
              <a:rPr sz="2925" b="1">
                <a:solidFill>
                  <a:srgbClr val="101114"/>
                </a:solidFill>
                <a:latin typeface="Arial"/>
                <a:ea typeface="Arial"/>
                <a:cs typeface="Arial"/>
              </a:rPr>
              <a:t>Every main-branch change is tested, packaged and deployed</a:t>
            </a:r>
          </a:p>
        </p:txBody>
      </p:sp>
      <p:sp>
        <p:nvSpPr>
          <p:cNvPr id="3" name="">
            <a:extLst xmlns:a="http://schemas.openxmlformats.org/drawingml/2006/main">
              <a:ext uri="{FF2B5EF4-FFF2-40B4-BE49-F238E27FC236}">
                <a16:creationId xmlns:a16="http://schemas.microsoft.com/office/drawing/2014/main" id="{045DADCA-A361-4DAC-8C87-CBF8BFD73B10}"/>
              </a:ext>
            </a:extLst>
          </p:cNvPr>
          <p:cNvSpPr>
            <a:spLocks xmlns:a="http://schemas.openxmlformats.org/drawingml/2006/main" noGrp="1"/>
          </p:cNvSpPr>
          <p:nvPr/>
        </p:nvSpPr>
        <p:spPr>
          <a:xfrm xmlns:a="http://schemas.openxmlformats.org/drawingml/2006/main">
            <a:off x="457200" y="1495425"/>
            <a:ext cx="112776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954F6C7-F511-4FA0-B0C7-705200C6591B}"/>
              </a:ext>
            </a:extLst>
          </p:cNvPr>
          <p:cNvSpPr>
            <a:spLocks xmlns:a="http://schemas.openxmlformats.org/drawingml/2006/main" noGrp="1"/>
          </p:cNvSpPr>
          <p:nvPr/>
        </p:nvSpPr>
        <p:spPr>
          <a:xfrm xmlns:a="http://schemas.openxmlformats.org/drawingml/2006/main">
            <a:off x="457200" y="64960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E6673"/>
                </a:solidFill>
                <a:latin typeface="Arial"/>
                <a:ea typeface="Arial"/>
                <a:cs typeface="Arial"/>
              </a:defRPr>
            </a:pPr>
            <a:r>
              <a:rPr sz="900" b="0">
                <a:solidFill>
                  <a:srgbClr val="5E6673"/>
                </a:solidFill>
                <a:latin typeface="Arial"/>
                <a:ea typeface="Arial"/>
                <a:cs typeface="Arial"/>
              </a:rPr>
              <a:t>Navneet Kang  |  MLOps assignment</a:t>
            </a:r>
          </a:p>
        </p:txBody>
      </p:sp>
      <p:sp>
        <p:nvSpPr>
          <p:cNvPr id="5" name="">
            <a:extLst xmlns:a="http://schemas.openxmlformats.org/drawingml/2006/main">
              <a:ext uri="{FF2B5EF4-FFF2-40B4-BE49-F238E27FC236}">
                <a16:creationId xmlns:a16="http://schemas.microsoft.com/office/drawing/2014/main" id="{85B8C37C-E96B-4211-BF40-130B6E63E057}"/>
              </a:ext>
            </a:extLst>
          </p:cNvPr>
          <p:cNvSpPr>
            <a:spLocks xmlns:a="http://schemas.openxmlformats.org/drawingml/2006/main" noGrp="1"/>
          </p:cNvSpPr>
          <p:nvPr/>
        </p:nvSpPr>
        <p:spPr>
          <a:xfrm xmlns:a="http://schemas.openxmlformats.org/drawingml/2006/main">
            <a:off x="112776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r">
              <a:defRPr sz="900" b="0">
                <a:solidFill>
                  <a:srgbClr val="5E6673"/>
                </a:solidFill>
                <a:latin typeface="Arial"/>
                <a:ea typeface="Arial"/>
                <a:cs typeface="Arial"/>
              </a:defRPr>
            </a:pPr>
            <a:r>
              <a:rPr sz="900" b="0">
                <a:solidFill>
                  <a:srgbClr val="5E6673"/>
                </a:solidFill>
                <a:latin typeface="Arial"/>
                <a:ea typeface="Arial"/>
                <a:cs typeface="Arial"/>
              </a:rPr>
              <a:t>4</a:t>
            </a:r>
          </a:p>
        </p:txBody>
      </p:sp>
      <p:sp>
        <p:nvSpPr>
          <p:cNvPr id="6" name="">
            <a:extLst xmlns:a="http://schemas.openxmlformats.org/drawingml/2006/main">
              <a:ext uri="{FF2B5EF4-FFF2-40B4-BE49-F238E27FC236}">
                <a16:creationId xmlns:a16="http://schemas.microsoft.com/office/drawing/2014/main" id="{66AA1D22-2183-4AA4-9F5C-83D4D5C9E39E}"/>
              </a:ext>
            </a:extLst>
          </p:cNvPr>
          <p:cNvSpPr>
            <a:spLocks xmlns:a="http://schemas.openxmlformats.org/drawingml/2006/main" noGrp="1"/>
          </p:cNvSpPr>
          <p:nvPr/>
        </p:nvSpPr>
        <p:spPr>
          <a:xfrm xmlns:a="http://schemas.openxmlformats.org/drawingml/2006/main">
            <a:off x="457200" y="1952625"/>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722"/>
          </a:bodyPr>
          <a:lstStyle xmlns:a="http://schemas.openxmlformats.org/drawingml/2006/main"/>
          <a:p xmlns:a="http://schemas.openxmlformats.org/drawingml/2006/main">
            <a:pPr algn="l">
              <a:defRPr sz="1800" b="1">
                <a:solidFill>
                  <a:srgbClr val="3D8DFF"/>
                </a:solidFill>
                <a:latin typeface="Arial"/>
                <a:ea typeface="Arial"/>
                <a:cs typeface="Arial"/>
              </a:defRPr>
            </a:pPr>
            <a:r>
              <a:rPr sz="1800" b="1">
                <a:solidFill>
                  <a:srgbClr val="3D8DFF"/>
                </a:solidFill>
                <a:latin typeface="Arial"/>
                <a:ea typeface="Arial"/>
                <a:cs typeface="Arial"/>
              </a:rPr>
              <a:t>Automation gates</a:t>
            </a:r>
          </a:p>
        </p:txBody>
      </p:sp>
      <p:sp>
        <p:nvSpPr>
          <p:cNvPr id="7" name="">
            <a:extLst xmlns:a="http://schemas.openxmlformats.org/drawingml/2006/main">
              <a:ext uri="{FF2B5EF4-FFF2-40B4-BE49-F238E27FC236}">
                <a16:creationId xmlns:a16="http://schemas.microsoft.com/office/drawing/2014/main" id="{9166F58C-25FD-4395-AFCF-7DD4D1E22DD5}"/>
              </a:ext>
            </a:extLst>
          </p:cNvPr>
          <p:cNvSpPr>
            <a:spLocks xmlns:a="http://schemas.openxmlformats.org/drawingml/2006/main" noGrp="1"/>
          </p:cNvSpPr>
          <p:nvPr/>
        </p:nvSpPr>
        <p:spPr>
          <a:xfrm xmlns:a="http://schemas.openxmlformats.org/drawingml/2006/main">
            <a:off x="457200" y="247650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812"/>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0833DC3F-8369-4366-8A12-3DBF2F47FF3D}"/>
              </a:ext>
            </a:extLst>
          </p:cNvPr>
          <p:cNvSpPr>
            <a:spLocks xmlns:a="http://schemas.openxmlformats.org/drawingml/2006/main" noGrp="1"/>
          </p:cNvSpPr>
          <p:nvPr/>
        </p:nvSpPr>
        <p:spPr>
          <a:xfrm xmlns:a="http://schemas.openxmlformats.org/drawingml/2006/main">
            <a:off x="742950" y="2476500"/>
            <a:ext cx="3810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114"/>
                </a:solidFill>
                <a:latin typeface="Arial"/>
                <a:ea typeface="Arial"/>
                <a:cs typeface="Arial"/>
              </a:defRPr>
            </a:pPr>
            <a:r>
              <a:rPr sz="1500" b="0">
                <a:solidFill>
                  <a:srgbClr val="101114"/>
                </a:solidFill>
                <a:latin typeface="Arial"/>
                <a:ea typeface="Arial"/>
                <a:cs typeface="Arial"/>
              </a:rPr>
              <a:t>pytest runs with coverage before image publication</a:t>
            </a:r>
          </a:p>
        </p:txBody>
      </p:sp>
      <p:sp>
        <p:nvSpPr>
          <p:cNvPr id="9" name="">
            <a:extLst xmlns:a="http://schemas.openxmlformats.org/drawingml/2006/main">
              <a:ext uri="{FF2B5EF4-FFF2-40B4-BE49-F238E27FC236}">
                <a16:creationId xmlns:a16="http://schemas.microsoft.com/office/drawing/2014/main" id="{5821373C-66DA-45A8-BBAB-C87D5EFA59EE}"/>
              </a:ext>
            </a:extLst>
          </p:cNvPr>
          <p:cNvSpPr>
            <a:spLocks xmlns:a="http://schemas.openxmlformats.org/drawingml/2006/main" noGrp="1"/>
          </p:cNvSpPr>
          <p:nvPr/>
        </p:nvSpPr>
        <p:spPr>
          <a:xfrm xmlns:a="http://schemas.openxmlformats.org/drawingml/2006/main">
            <a:off x="457200" y="331470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812"/>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73708D6F-2225-499D-B8DD-68218E06CA58}"/>
              </a:ext>
            </a:extLst>
          </p:cNvPr>
          <p:cNvSpPr>
            <a:spLocks xmlns:a="http://schemas.openxmlformats.org/drawingml/2006/main" noGrp="1"/>
          </p:cNvSpPr>
          <p:nvPr/>
        </p:nvSpPr>
        <p:spPr>
          <a:xfrm xmlns:a="http://schemas.openxmlformats.org/drawingml/2006/main">
            <a:off x="742950" y="3314700"/>
            <a:ext cx="3810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114"/>
                </a:solidFill>
                <a:latin typeface="Arial"/>
                <a:ea typeface="Arial"/>
                <a:cs typeface="Arial"/>
              </a:defRPr>
            </a:pPr>
            <a:r>
              <a:rPr sz="1500" b="0">
                <a:solidFill>
                  <a:srgbClr val="101114"/>
                </a:solidFill>
                <a:latin typeface="Arial"/>
                <a:ea typeface="Arial"/>
                <a:cs typeface="Arial"/>
              </a:rPr>
              <a:t>Docker images are pushed to GHCR as latest and commit SHA</a:t>
            </a:r>
          </a:p>
        </p:txBody>
      </p:sp>
      <p:sp>
        <p:nvSpPr>
          <p:cNvPr id="11" name="">
            <a:extLst xmlns:a="http://schemas.openxmlformats.org/drawingml/2006/main">
              <a:ext uri="{FF2B5EF4-FFF2-40B4-BE49-F238E27FC236}">
                <a16:creationId xmlns:a16="http://schemas.microsoft.com/office/drawing/2014/main" id="{077A1A54-C8A9-4AAB-973F-CA1EF57F6D67}"/>
              </a:ext>
            </a:extLst>
          </p:cNvPr>
          <p:cNvSpPr>
            <a:spLocks xmlns:a="http://schemas.openxmlformats.org/drawingml/2006/main" noGrp="1"/>
          </p:cNvSpPr>
          <p:nvPr/>
        </p:nvSpPr>
        <p:spPr>
          <a:xfrm xmlns:a="http://schemas.openxmlformats.org/drawingml/2006/main">
            <a:off x="457200" y="415290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7812"/>
          </a:bodyPr>
          <a:lstStyle xmlns:a="http://schemas.openxmlformats.org/drawingml/2006/main"/>
          <a:p xmlns:a="http://schemas.openxmlformats.org/drawingml/2006/main">
            <a:pPr algn="l">
              <a:defRPr sz="1500" b="1">
                <a:solidFill>
                  <a:srgbClr val="3D8DFF"/>
                </a:solidFill>
                <a:latin typeface="Arial"/>
                <a:ea typeface="Arial"/>
                <a:cs typeface="Arial"/>
              </a:defRPr>
            </a:pPr>
            <a:r>
              <a:rPr sz="1500" b="1">
                <a:solidFill>
                  <a:srgbClr val="3D8DFF"/>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E055FA54-50C9-4A2B-8586-944765DAC1EF}"/>
              </a:ext>
            </a:extLst>
          </p:cNvPr>
          <p:cNvSpPr>
            <a:spLocks xmlns:a="http://schemas.openxmlformats.org/drawingml/2006/main" noGrp="1"/>
          </p:cNvSpPr>
          <p:nvPr/>
        </p:nvSpPr>
        <p:spPr>
          <a:xfrm xmlns:a="http://schemas.openxmlformats.org/drawingml/2006/main">
            <a:off x="742950" y="4152900"/>
            <a:ext cx="3810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114"/>
                </a:solidFill>
                <a:latin typeface="Arial"/>
                <a:ea typeface="Arial"/>
                <a:cs typeface="Arial"/>
              </a:defRPr>
            </a:pPr>
            <a:r>
              <a:rPr sz="1500" b="0">
                <a:solidFill>
                  <a:srgbClr val="101114"/>
                </a:solidFill>
                <a:latin typeface="Arial"/>
                <a:ea typeface="Arial"/>
                <a:cs typeface="Arial"/>
              </a:rPr>
              <a:t>Deployment waits for /health and runs a prediction smoke test</a:t>
            </a:r>
          </a:p>
        </p:txBody>
      </p:sp>
      <p:sp>
        <p:nvSpPr>
          <p:cNvPr id="13" name="">
            <a:extLst xmlns:a="http://schemas.openxmlformats.org/drawingml/2006/main">
              <a:ext uri="{FF2B5EF4-FFF2-40B4-BE49-F238E27FC236}">
                <a16:creationId xmlns:a16="http://schemas.microsoft.com/office/drawing/2014/main" id="{013034A2-5057-4F68-B530-FEFBAEB73314}"/>
              </a:ext>
            </a:extLst>
          </p:cNvPr>
          <p:cNvSpPr>
            <a:spLocks xmlns:a="http://schemas.openxmlformats.org/drawingml/2006/main" noGrp="1"/>
          </p:cNvSpPr>
          <p:nvPr/>
        </p:nvSpPr>
        <p:spPr>
          <a:xfrm xmlns:a="http://schemas.openxmlformats.org/drawingml/2006/main">
            <a:off x="457200" y="5143500"/>
            <a:ext cx="4095750" cy="7048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D7A96F6-D227-4E1F-88D2-E8663A2DC188}"/>
              </a:ext>
            </a:extLst>
          </p:cNvPr>
          <p:cNvSpPr>
            <a:spLocks xmlns:a="http://schemas.openxmlformats.org/drawingml/2006/main" noGrp="1"/>
          </p:cNvSpPr>
          <p:nvPr/>
        </p:nvSpPr>
        <p:spPr>
          <a:xfrm xmlns:a="http://schemas.openxmlformats.org/drawingml/2006/main">
            <a:off x="666750" y="5353050"/>
            <a:ext cx="3714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848"/>
          </a:bodyPr>
          <a:lstStyle xmlns:a="http://schemas.openxmlformats.org/drawingml/2006/main"/>
          <a:p xmlns:a="http://schemas.openxmlformats.org/drawingml/2006/main">
            <a:pPr algn="l">
              <a:defRPr sz="1650" b="1">
                <a:solidFill>
                  <a:srgbClr val="16834B"/>
                </a:solidFill>
                <a:latin typeface="Arial"/>
                <a:ea typeface="Arial"/>
                <a:cs typeface="Arial"/>
              </a:defRPr>
            </a:pPr>
            <a:r>
              <a:rPr sz="1650" b="1">
                <a:solidFill>
                  <a:srgbClr val="16834B"/>
                </a:solidFill>
                <a:latin typeface="Arial"/>
                <a:ea typeface="Arial"/>
                <a:cs typeface="Arial"/>
              </a:rPr>
              <a:t>Result: test-and-build ✓   deploy ✓</a:t>
            </a:r>
          </a:p>
        </p:txBody>
      </p:sp>
      <p:sp>
        <p:nvSpPr>
          <p:cNvPr id="15" name="">
            <a:extLst xmlns:a="http://schemas.openxmlformats.org/drawingml/2006/main">
              <a:ext uri="{FF2B5EF4-FFF2-40B4-BE49-F238E27FC236}">
                <a16:creationId xmlns:a16="http://schemas.microsoft.com/office/drawing/2014/main" id="{8734D1C2-E063-48DE-B93F-0592995F256B}"/>
              </a:ext>
            </a:extLst>
          </p:cNvPr>
          <p:cNvSpPr>
            <a:spLocks xmlns:a="http://schemas.openxmlformats.org/drawingml/2006/main" noGrp="1"/>
          </p:cNvSpPr>
          <p:nvPr/>
        </p:nvSpPr>
        <p:spPr>
          <a:xfrm xmlns:a="http://schemas.openxmlformats.org/drawingml/2006/main">
            <a:off x="5048250" y="2133600"/>
            <a:ext cx="6534150" cy="3238500"/>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fbbc6b54ed554f60"/>
          <a:stretch xmlns:a="http://schemas.openxmlformats.org/drawingml/2006/main"/>
        </p:blipFill>
        <p:spPr>
          <a:xfrm xmlns:a="http://schemas.openxmlformats.org/drawingml/2006/main">
            <a:off x="5187774" y="2133600"/>
            <a:ext cx="6255103" cy="323850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DC661F59-FCF2-4111-B15F-1793ACEF24F8}"/>
              </a:ext>
            </a:extLst>
          </p:cNvPr>
          <p:cNvSpPr>
            <a:spLocks xmlns:a="http://schemas.openxmlformats.org/drawingml/2006/main" noGrp="1"/>
          </p:cNvSpPr>
          <p:nvPr/>
        </p:nvSpPr>
        <p:spPr>
          <a:xfrm xmlns:a="http://schemas.openxmlformats.org/drawingml/2006/main">
            <a:off x="5048250" y="5505450"/>
            <a:ext cx="4762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Evidence: green CI/CD job status</a:t>
            </a:r>
          </a:p>
        </p:txBody>
      </p:sp>
    </p:spTree>
    <p:extLst>
      <p:ext uri="{BB962C8B-B14F-4D97-AF65-F5344CB8AC3E}">
        <p14:creationId xmlns:p14="http://schemas.microsoft.com/office/powerpoint/2010/main" val="80435094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00A105E-532A-4552-B876-0D9876C3176F}"/>
              </a:ext>
            </a:extLst>
          </p:cNvPr>
          <p:cNvSpPr>
            <a:spLocks xmlns:a="http://schemas.openxmlformats.org/drawingml/2006/main" noGrp="1"/>
          </p:cNvSpPr>
          <p:nvPr/>
        </p:nvSpPr>
        <p:spPr>
          <a:xfrm xmlns:a="http://schemas.openxmlformats.org/drawingml/2006/main">
            <a:off x="457200" y="2667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5E6673"/>
                </a:solidFill>
                <a:latin typeface="Arial"/>
                <a:ea typeface="Arial"/>
                <a:cs typeface="Arial"/>
              </a:defRPr>
            </a:pPr>
            <a:r>
              <a:rPr sz="1125" b="1">
                <a:solidFill>
                  <a:srgbClr val="5E6673"/>
                </a:solidFill>
                <a:latin typeface="Arial"/>
                <a:ea typeface="Arial"/>
                <a:cs typeface="Arial"/>
              </a:rPr>
              <a:t>CATS VS DOGS MLOPS</a:t>
            </a:r>
          </a:p>
        </p:txBody>
      </p:sp>
      <p:sp>
        <p:nvSpPr>
          <p:cNvPr id="2" name="">
            <a:extLst xmlns:a="http://schemas.openxmlformats.org/drawingml/2006/main">
              <a:ext uri="{FF2B5EF4-FFF2-40B4-BE49-F238E27FC236}">
                <a16:creationId xmlns:a16="http://schemas.microsoft.com/office/drawing/2014/main" id="{E78CFE3C-394B-4D25-9F6E-61E489EA4D7D}"/>
              </a:ext>
            </a:extLst>
          </p:cNvPr>
          <p:cNvSpPr>
            <a:spLocks xmlns:a="http://schemas.openxmlformats.org/drawingml/2006/main" noGrp="1"/>
          </p:cNvSpPr>
          <p:nvPr/>
        </p:nvSpPr>
        <p:spPr>
          <a:xfrm xmlns:a="http://schemas.openxmlformats.org/drawingml/2006/main">
            <a:off x="457200" y="628650"/>
            <a:ext cx="110966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101114"/>
                </a:solidFill>
                <a:latin typeface="Arial"/>
                <a:ea typeface="Arial"/>
                <a:cs typeface="Arial"/>
              </a:defRPr>
            </a:pPr>
            <a:r>
              <a:rPr sz="2925" b="1">
                <a:solidFill>
                  <a:srgbClr val="101114"/>
                </a:solidFill>
                <a:latin typeface="Arial"/>
                <a:ea typeface="Arial"/>
                <a:cs typeface="Arial"/>
              </a:rPr>
              <a:t>The running API and monitoring stack are healthy</a:t>
            </a:r>
          </a:p>
        </p:txBody>
      </p:sp>
      <p:sp>
        <p:nvSpPr>
          <p:cNvPr id="3" name="">
            <a:extLst xmlns:a="http://schemas.openxmlformats.org/drawingml/2006/main">
              <a:ext uri="{FF2B5EF4-FFF2-40B4-BE49-F238E27FC236}">
                <a16:creationId xmlns:a16="http://schemas.microsoft.com/office/drawing/2014/main" id="{0FA9E7EB-98D1-448A-8276-5C0A3575C2C3}"/>
              </a:ext>
            </a:extLst>
          </p:cNvPr>
          <p:cNvSpPr>
            <a:spLocks xmlns:a="http://schemas.openxmlformats.org/drawingml/2006/main" noGrp="1"/>
          </p:cNvSpPr>
          <p:nvPr/>
        </p:nvSpPr>
        <p:spPr>
          <a:xfrm xmlns:a="http://schemas.openxmlformats.org/drawingml/2006/main">
            <a:off x="457200" y="1495425"/>
            <a:ext cx="112776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0036A24A-0E62-4BB6-ABED-F16C17F12A64}"/>
              </a:ext>
            </a:extLst>
          </p:cNvPr>
          <p:cNvSpPr>
            <a:spLocks xmlns:a="http://schemas.openxmlformats.org/drawingml/2006/main" noGrp="1"/>
          </p:cNvSpPr>
          <p:nvPr/>
        </p:nvSpPr>
        <p:spPr>
          <a:xfrm xmlns:a="http://schemas.openxmlformats.org/drawingml/2006/main">
            <a:off x="457200" y="64960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E6673"/>
                </a:solidFill>
                <a:latin typeface="Arial"/>
                <a:ea typeface="Arial"/>
                <a:cs typeface="Arial"/>
              </a:defRPr>
            </a:pPr>
            <a:r>
              <a:rPr sz="900" b="0">
                <a:solidFill>
                  <a:srgbClr val="5E6673"/>
                </a:solidFill>
                <a:latin typeface="Arial"/>
                <a:ea typeface="Arial"/>
                <a:cs typeface="Arial"/>
              </a:rPr>
              <a:t>Navneet Kang  |  MLOps assignment</a:t>
            </a:r>
          </a:p>
        </p:txBody>
      </p:sp>
      <p:sp>
        <p:nvSpPr>
          <p:cNvPr id="5" name="">
            <a:extLst xmlns:a="http://schemas.openxmlformats.org/drawingml/2006/main">
              <a:ext uri="{FF2B5EF4-FFF2-40B4-BE49-F238E27FC236}">
                <a16:creationId xmlns:a16="http://schemas.microsoft.com/office/drawing/2014/main" id="{D6295743-AD30-4932-AAC4-50D083477433}"/>
              </a:ext>
            </a:extLst>
          </p:cNvPr>
          <p:cNvSpPr>
            <a:spLocks xmlns:a="http://schemas.openxmlformats.org/drawingml/2006/main" noGrp="1"/>
          </p:cNvSpPr>
          <p:nvPr/>
        </p:nvSpPr>
        <p:spPr>
          <a:xfrm xmlns:a="http://schemas.openxmlformats.org/drawingml/2006/main">
            <a:off x="112776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r">
              <a:defRPr sz="900" b="0">
                <a:solidFill>
                  <a:srgbClr val="5E6673"/>
                </a:solidFill>
                <a:latin typeface="Arial"/>
                <a:ea typeface="Arial"/>
                <a:cs typeface="Arial"/>
              </a:defRPr>
            </a:pPr>
            <a:r>
              <a:rPr sz="900" b="0">
                <a:solidFill>
                  <a:srgbClr val="5E6673"/>
                </a:solidFill>
                <a:latin typeface="Arial"/>
                <a:ea typeface="Arial"/>
                <a:cs typeface="Arial"/>
              </a:rPr>
              <a:t>5</a:t>
            </a:r>
          </a:p>
        </p:txBody>
      </p:sp>
      <p:sp>
        <p:nvSpPr>
          <p:cNvPr id="6" name="">
            <a:extLst xmlns:a="http://schemas.openxmlformats.org/drawingml/2006/main">
              <a:ext uri="{FF2B5EF4-FFF2-40B4-BE49-F238E27FC236}">
                <a16:creationId xmlns:a16="http://schemas.microsoft.com/office/drawing/2014/main" id="{A292F81D-2A4B-4EDB-9CD9-AF4B2B613017}"/>
              </a:ext>
            </a:extLst>
          </p:cNvPr>
          <p:cNvSpPr>
            <a:spLocks xmlns:a="http://schemas.openxmlformats.org/drawingml/2006/main" noGrp="1"/>
          </p:cNvSpPr>
          <p:nvPr/>
        </p:nvSpPr>
        <p:spPr>
          <a:xfrm xmlns:a="http://schemas.openxmlformats.org/drawingml/2006/main">
            <a:off x="457200" y="1952625"/>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01114"/>
                </a:solidFill>
                <a:latin typeface="Arial"/>
                <a:ea typeface="Arial"/>
                <a:cs typeface="Arial"/>
              </a:defRPr>
            </a:pPr>
            <a:r>
              <a:rPr sz="1875" b="1">
                <a:solidFill>
                  <a:srgbClr val="101114"/>
                </a:solidFill>
                <a:latin typeface="Arial"/>
                <a:ea typeface="Arial"/>
                <a:cs typeface="Arial"/>
              </a:rPr>
              <a:t>Docker Compose runs two services</a:t>
            </a:r>
          </a:p>
        </p:txBody>
      </p:sp>
      <p:sp>
        <p:nvSpPr>
          <p:cNvPr id="7" name="">
            <a:extLst xmlns:a="http://schemas.openxmlformats.org/drawingml/2006/main">
              <a:ext uri="{FF2B5EF4-FFF2-40B4-BE49-F238E27FC236}">
                <a16:creationId xmlns:a16="http://schemas.microsoft.com/office/drawing/2014/main" id="{F621E1D3-2E96-4AAC-81D6-E914D406B436}"/>
              </a:ext>
            </a:extLst>
          </p:cNvPr>
          <p:cNvSpPr>
            <a:spLocks xmlns:a="http://schemas.openxmlformats.org/drawingml/2006/main" noGrp="1"/>
          </p:cNvSpPr>
          <p:nvPr/>
        </p:nvSpPr>
        <p:spPr>
          <a:xfrm xmlns:a="http://schemas.openxmlformats.org/drawingml/2006/main">
            <a:off x="457200" y="2571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097"/>
          </a:bodyPr>
          <a:lstStyle xmlns:a="http://schemas.openxmlformats.org/drawingml/2006/main"/>
          <a:p xmlns:a="http://schemas.openxmlformats.org/drawingml/2006/main">
            <a:pPr algn="l">
              <a:defRPr sz="2325" b="1">
                <a:solidFill>
                  <a:srgbClr val="3D8DFF"/>
                </a:solidFill>
                <a:latin typeface="Arial"/>
                <a:ea typeface="Arial"/>
                <a:cs typeface="Arial"/>
              </a:defRPr>
            </a:pPr>
            <a:r>
              <a:rPr sz="2325" b="1">
                <a:solidFill>
                  <a:srgbClr val="3D8DFF"/>
                </a:solidFill>
                <a:latin typeface="Arial"/>
                <a:ea typeface="Arial"/>
                <a:cs typeface="Arial"/>
              </a:rPr>
              <a:t>API</a:t>
            </a:r>
          </a:p>
        </p:txBody>
      </p:sp>
      <p:sp>
        <p:nvSpPr>
          <p:cNvPr id="8" name="">
            <a:extLst xmlns:a="http://schemas.openxmlformats.org/drawingml/2006/main">
              <a:ext uri="{FF2B5EF4-FFF2-40B4-BE49-F238E27FC236}">
                <a16:creationId xmlns:a16="http://schemas.microsoft.com/office/drawing/2014/main" id="{D638A351-5579-4A7B-B1EC-DAFA1D40D069}"/>
              </a:ext>
            </a:extLst>
          </p:cNvPr>
          <p:cNvSpPr>
            <a:spLocks xmlns:a="http://schemas.openxmlformats.org/drawingml/2006/main" noGrp="1"/>
          </p:cNvSpPr>
          <p:nvPr/>
        </p:nvSpPr>
        <p:spPr>
          <a:xfrm xmlns:a="http://schemas.openxmlformats.org/drawingml/2006/main">
            <a:off x="457200" y="3048000"/>
            <a:ext cx="4000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E6673"/>
                </a:solidFill>
                <a:latin typeface="Arial"/>
                <a:ea typeface="Arial"/>
                <a:cs typeface="Arial"/>
              </a:defRPr>
            </a:pPr>
            <a:r>
              <a:rPr sz="1500" b="0">
                <a:solidFill>
                  <a:srgbClr val="5E6673"/>
                </a:solidFill>
                <a:latin typeface="Arial"/>
                <a:ea typeface="Arial"/>
                <a:cs typeface="Arial"/>
              </a:rPr>
              <a:t>FastAPI container</a:t>
            </a:r>
          </a:p>
          <a:p xmlns:a="http://schemas.openxmlformats.org/drawingml/2006/main">
            <a:pPr algn="l">
              <a:defRPr sz="1500" b="0">
                <a:solidFill>
                  <a:srgbClr val="5E6673"/>
                </a:solidFill>
                <a:latin typeface="Arial"/>
                <a:ea typeface="Arial"/>
                <a:cs typeface="Arial"/>
              </a:defRPr>
            </a:pPr>
            <a:r>
              <a:rPr sz="1500" b="0">
                <a:solidFill>
                  <a:srgbClr val="5E6673"/>
                </a:solidFill>
                <a:latin typeface="Arial"/>
                <a:ea typeface="Arial"/>
                <a:cs typeface="Arial"/>
              </a:rPr>
              <a:t>host port 8001 → container 8000</a:t>
            </a:r>
          </a:p>
          <a:p xmlns:a="http://schemas.openxmlformats.org/drawingml/2006/main">
            <a:pPr algn="l">
              <a:defRPr sz="1500" b="0">
                <a:solidFill>
                  <a:srgbClr val="5E6673"/>
                </a:solidFill>
                <a:latin typeface="Arial"/>
                <a:ea typeface="Arial"/>
                <a:cs typeface="Arial"/>
              </a:defRPr>
            </a:pPr>
            <a:r>
              <a:rPr sz="1500" b="0">
                <a:solidFill>
                  <a:srgbClr val="5E6673"/>
                </a:solidFill>
                <a:latin typeface="Arial"/>
                <a:ea typeface="Arial"/>
                <a:cs typeface="Arial"/>
              </a:rPr>
              <a:t>health status: healthy</a:t>
            </a:r>
          </a:p>
        </p:txBody>
      </p:sp>
      <p:sp>
        <p:nvSpPr>
          <p:cNvPr id="9" name="">
            <a:extLst xmlns:a="http://schemas.openxmlformats.org/drawingml/2006/main">
              <a:ext uri="{FF2B5EF4-FFF2-40B4-BE49-F238E27FC236}">
                <a16:creationId xmlns:a16="http://schemas.microsoft.com/office/drawing/2014/main" id="{BA3E72C0-A06A-4559-84E1-3D0797B8A4B4}"/>
              </a:ext>
            </a:extLst>
          </p:cNvPr>
          <p:cNvSpPr>
            <a:spLocks xmlns:a="http://schemas.openxmlformats.org/drawingml/2006/main" noGrp="1"/>
          </p:cNvSpPr>
          <p:nvPr/>
        </p:nvSpPr>
        <p:spPr>
          <a:xfrm xmlns:a="http://schemas.openxmlformats.org/drawingml/2006/main">
            <a:off x="457200" y="4476750"/>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097"/>
          </a:bodyPr>
          <a:lstStyle xmlns:a="http://schemas.openxmlformats.org/drawingml/2006/main"/>
          <a:p xmlns:a="http://schemas.openxmlformats.org/drawingml/2006/main">
            <a:pPr algn="l">
              <a:defRPr sz="2325" b="1">
                <a:solidFill>
                  <a:srgbClr val="3D8DFF"/>
                </a:solidFill>
                <a:latin typeface="Arial"/>
                <a:ea typeface="Arial"/>
                <a:cs typeface="Arial"/>
              </a:defRPr>
            </a:pPr>
            <a:r>
              <a:rPr sz="2325" b="1">
                <a:solidFill>
                  <a:srgbClr val="3D8DFF"/>
                </a:solidFill>
                <a:latin typeface="Arial"/>
                <a:ea typeface="Arial"/>
                <a:cs typeface="Arial"/>
              </a:rPr>
              <a:t>MONITORING</a:t>
            </a:r>
          </a:p>
        </p:txBody>
      </p:sp>
      <p:sp>
        <p:nvSpPr>
          <p:cNvPr id="10" name="">
            <a:extLst xmlns:a="http://schemas.openxmlformats.org/drawingml/2006/main">
              <a:ext uri="{FF2B5EF4-FFF2-40B4-BE49-F238E27FC236}">
                <a16:creationId xmlns:a16="http://schemas.microsoft.com/office/drawing/2014/main" id="{C988D9CE-07F9-4366-B96D-D4C3BD155DF0}"/>
              </a:ext>
            </a:extLst>
          </p:cNvPr>
          <p:cNvSpPr>
            <a:spLocks xmlns:a="http://schemas.openxmlformats.org/drawingml/2006/main" noGrp="1"/>
          </p:cNvSpPr>
          <p:nvPr/>
        </p:nvSpPr>
        <p:spPr>
          <a:xfrm xmlns:a="http://schemas.openxmlformats.org/drawingml/2006/main">
            <a:off x="457200" y="4953000"/>
            <a:ext cx="40005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5E6673"/>
                </a:solidFill>
                <a:latin typeface="Arial"/>
                <a:ea typeface="Arial"/>
                <a:cs typeface="Arial"/>
              </a:defRPr>
            </a:pPr>
            <a:r>
              <a:rPr sz="1500" b="0">
                <a:solidFill>
                  <a:srgbClr val="5E6673"/>
                </a:solidFill>
                <a:latin typeface="Arial"/>
                <a:ea typeface="Arial"/>
                <a:cs typeface="Arial"/>
              </a:rPr>
              <a:t>Prometheus container</a:t>
            </a:r>
          </a:p>
          <a:p xmlns:a="http://schemas.openxmlformats.org/drawingml/2006/main">
            <a:pPr algn="l">
              <a:defRPr sz="1500" b="0">
                <a:solidFill>
                  <a:srgbClr val="5E6673"/>
                </a:solidFill>
                <a:latin typeface="Arial"/>
                <a:ea typeface="Arial"/>
                <a:cs typeface="Arial"/>
              </a:defRPr>
            </a:pPr>
            <a:r>
              <a:rPr sz="1500" b="0">
                <a:solidFill>
                  <a:srgbClr val="5E6673"/>
                </a:solidFill>
                <a:latin typeface="Arial"/>
                <a:ea typeface="Arial"/>
                <a:cs typeface="Arial"/>
              </a:rPr>
              <a:t>host port 9090</a:t>
            </a:r>
          </a:p>
          <a:p xmlns:a="http://schemas.openxmlformats.org/drawingml/2006/main">
            <a:pPr algn="l">
              <a:defRPr sz="1500" b="0">
                <a:solidFill>
                  <a:srgbClr val="5E6673"/>
                </a:solidFill>
                <a:latin typeface="Arial"/>
                <a:ea typeface="Arial"/>
                <a:cs typeface="Arial"/>
              </a:defRPr>
            </a:pPr>
            <a:r>
              <a:rPr sz="1500" b="0">
                <a:solidFill>
                  <a:srgbClr val="5E6673"/>
                </a:solidFill>
                <a:latin typeface="Arial"/>
                <a:ea typeface="Arial"/>
                <a:cs typeface="Arial"/>
              </a:rPr>
              <a:t>collects request count and latency</a:t>
            </a:r>
          </a:p>
        </p:txBody>
      </p:sp>
      <p:sp>
        <p:nvSpPr>
          <p:cNvPr id="11" name="">
            <a:extLst xmlns:a="http://schemas.openxmlformats.org/drawingml/2006/main">
              <a:ext uri="{FF2B5EF4-FFF2-40B4-BE49-F238E27FC236}">
                <a16:creationId xmlns:a16="http://schemas.microsoft.com/office/drawing/2014/main" id="{EC28A632-DFA5-44A6-8715-8A9C2DE040DC}"/>
              </a:ext>
            </a:extLst>
          </p:cNvPr>
          <p:cNvSpPr>
            <a:spLocks xmlns:a="http://schemas.openxmlformats.org/drawingml/2006/main" noGrp="1"/>
          </p:cNvSpPr>
          <p:nvPr/>
        </p:nvSpPr>
        <p:spPr>
          <a:xfrm xmlns:a="http://schemas.openxmlformats.org/drawingml/2006/main">
            <a:off x="4762500" y="2000250"/>
            <a:ext cx="6819900" cy="1809750"/>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2f7e10a4dade4fda"/>
          <a:stretch xmlns:a="http://schemas.openxmlformats.org/drawingml/2006/main"/>
        </p:blipFill>
        <p:spPr>
          <a:xfrm xmlns:a="http://schemas.openxmlformats.org/drawingml/2006/main">
            <a:off x="4762500" y="2188842"/>
            <a:ext cx="6819900" cy="1432566"/>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F597425C-2F85-44CC-BF9C-E664B0D2C337}"/>
              </a:ext>
            </a:extLst>
          </p:cNvPr>
          <p:cNvSpPr>
            <a:spLocks xmlns:a="http://schemas.openxmlformats.org/drawingml/2006/main" noGrp="1"/>
          </p:cNvSpPr>
          <p:nvPr/>
        </p:nvSpPr>
        <p:spPr>
          <a:xfrm xmlns:a="http://schemas.openxmlformats.org/drawingml/2006/main">
            <a:off x="4762500" y="4238625"/>
            <a:ext cx="6819900" cy="1428750"/>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90b59a90f79a420f"/>
          <a:stretch xmlns:a="http://schemas.openxmlformats.org/drawingml/2006/main"/>
        </p:blipFill>
        <p:spPr>
          <a:xfrm xmlns:a="http://schemas.openxmlformats.org/drawingml/2006/main">
            <a:off x="4762500" y="4316047"/>
            <a:ext cx="6819900" cy="1273906"/>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99DE155-12B7-4B95-84F3-A5DF61FA2041}"/>
              </a:ext>
            </a:extLst>
          </p:cNvPr>
          <p:cNvSpPr>
            <a:spLocks xmlns:a="http://schemas.openxmlformats.org/drawingml/2006/main" noGrp="1"/>
          </p:cNvSpPr>
          <p:nvPr/>
        </p:nvSpPr>
        <p:spPr>
          <a:xfrm xmlns:a="http://schemas.openxmlformats.org/drawingml/2006/main">
            <a:off x="4762500" y="5867400"/>
            <a:ext cx="533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Evidence: healthy containers and /health response</a:t>
            </a:r>
          </a:p>
        </p:txBody>
      </p:sp>
    </p:spTree>
    <p:extLst>
      <p:ext uri="{BB962C8B-B14F-4D97-AF65-F5344CB8AC3E}">
        <p14:creationId xmlns:p14="http://schemas.microsoft.com/office/powerpoint/2010/main" val="11000355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A41AEC74-118F-4D9C-B006-F8EB31A04A7A}"/>
              </a:ext>
            </a:extLst>
          </p:cNvPr>
          <p:cNvSpPr>
            <a:spLocks xmlns:a="http://schemas.openxmlformats.org/drawingml/2006/main" noGrp="1"/>
          </p:cNvSpPr>
          <p:nvPr/>
        </p:nvSpPr>
        <p:spPr>
          <a:xfrm xmlns:a="http://schemas.openxmlformats.org/drawingml/2006/main">
            <a:off x="457200" y="2667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5E6673"/>
                </a:solidFill>
                <a:latin typeface="Arial"/>
                <a:ea typeface="Arial"/>
                <a:cs typeface="Arial"/>
              </a:defRPr>
            </a:pPr>
            <a:r>
              <a:rPr sz="1125" b="1">
                <a:solidFill>
                  <a:srgbClr val="5E6673"/>
                </a:solidFill>
                <a:latin typeface="Arial"/>
                <a:ea typeface="Arial"/>
                <a:cs typeface="Arial"/>
              </a:rPr>
              <a:t>CATS VS DOGS MLOPS</a:t>
            </a:r>
          </a:p>
        </p:txBody>
      </p:sp>
      <p:sp>
        <p:nvSpPr>
          <p:cNvPr id="2" name="">
            <a:extLst xmlns:a="http://schemas.openxmlformats.org/drawingml/2006/main">
              <a:ext uri="{FF2B5EF4-FFF2-40B4-BE49-F238E27FC236}">
                <a16:creationId xmlns:a16="http://schemas.microsoft.com/office/drawing/2014/main" id="{4F722618-08F9-41CC-B429-FD2E5E653EA0}"/>
              </a:ext>
            </a:extLst>
          </p:cNvPr>
          <p:cNvSpPr>
            <a:spLocks xmlns:a="http://schemas.openxmlformats.org/drawingml/2006/main" noGrp="1"/>
          </p:cNvSpPr>
          <p:nvPr/>
        </p:nvSpPr>
        <p:spPr>
          <a:xfrm xmlns:a="http://schemas.openxmlformats.org/drawingml/2006/main">
            <a:off x="457200" y="628650"/>
            <a:ext cx="110966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101114"/>
                </a:solidFill>
                <a:latin typeface="Arial"/>
                <a:ea typeface="Arial"/>
                <a:cs typeface="Arial"/>
              </a:defRPr>
            </a:pPr>
            <a:r>
              <a:rPr sz="2925" b="1">
                <a:solidFill>
                  <a:srgbClr val="101114"/>
                </a:solidFill>
                <a:latin typeface="Arial"/>
                <a:ea typeface="Arial"/>
                <a:cs typeface="Arial"/>
              </a:rPr>
              <a:t>The live service predicts, reports health and exposes metrics</a:t>
            </a:r>
          </a:p>
        </p:txBody>
      </p:sp>
      <p:sp>
        <p:nvSpPr>
          <p:cNvPr id="3" name="">
            <a:extLst xmlns:a="http://schemas.openxmlformats.org/drawingml/2006/main">
              <a:ext uri="{FF2B5EF4-FFF2-40B4-BE49-F238E27FC236}">
                <a16:creationId xmlns:a16="http://schemas.microsoft.com/office/drawing/2014/main" id="{08E97DF4-1285-4A2D-8E1D-78F4E82B5810}"/>
              </a:ext>
            </a:extLst>
          </p:cNvPr>
          <p:cNvSpPr>
            <a:spLocks xmlns:a="http://schemas.openxmlformats.org/drawingml/2006/main" noGrp="1"/>
          </p:cNvSpPr>
          <p:nvPr/>
        </p:nvSpPr>
        <p:spPr>
          <a:xfrm xmlns:a="http://schemas.openxmlformats.org/drawingml/2006/main">
            <a:off x="457200" y="1495425"/>
            <a:ext cx="112776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883E88C-DB60-4924-9BA4-7880C8EA89F6}"/>
              </a:ext>
            </a:extLst>
          </p:cNvPr>
          <p:cNvSpPr>
            <a:spLocks xmlns:a="http://schemas.openxmlformats.org/drawingml/2006/main" noGrp="1"/>
          </p:cNvSpPr>
          <p:nvPr/>
        </p:nvSpPr>
        <p:spPr>
          <a:xfrm xmlns:a="http://schemas.openxmlformats.org/drawingml/2006/main">
            <a:off x="457200" y="64960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E6673"/>
                </a:solidFill>
                <a:latin typeface="Arial"/>
                <a:ea typeface="Arial"/>
                <a:cs typeface="Arial"/>
              </a:defRPr>
            </a:pPr>
            <a:r>
              <a:rPr sz="900" b="0">
                <a:solidFill>
                  <a:srgbClr val="5E6673"/>
                </a:solidFill>
                <a:latin typeface="Arial"/>
                <a:ea typeface="Arial"/>
                <a:cs typeface="Arial"/>
              </a:rPr>
              <a:t>Navneet Kang  |  MLOps assignment</a:t>
            </a:r>
          </a:p>
        </p:txBody>
      </p:sp>
      <p:sp>
        <p:nvSpPr>
          <p:cNvPr id="5" name="">
            <a:extLst xmlns:a="http://schemas.openxmlformats.org/drawingml/2006/main">
              <a:ext uri="{FF2B5EF4-FFF2-40B4-BE49-F238E27FC236}">
                <a16:creationId xmlns:a16="http://schemas.microsoft.com/office/drawing/2014/main" id="{C3D5CC24-6BD0-4AFC-A1E2-8D9879CD2924}"/>
              </a:ext>
            </a:extLst>
          </p:cNvPr>
          <p:cNvSpPr>
            <a:spLocks xmlns:a="http://schemas.openxmlformats.org/drawingml/2006/main" noGrp="1"/>
          </p:cNvSpPr>
          <p:nvPr/>
        </p:nvSpPr>
        <p:spPr>
          <a:xfrm xmlns:a="http://schemas.openxmlformats.org/drawingml/2006/main">
            <a:off x="112776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r">
              <a:defRPr sz="900" b="0">
                <a:solidFill>
                  <a:srgbClr val="5E6673"/>
                </a:solidFill>
                <a:latin typeface="Arial"/>
                <a:ea typeface="Arial"/>
                <a:cs typeface="Arial"/>
              </a:defRPr>
            </a:pPr>
            <a:r>
              <a:rPr sz="900" b="0">
                <a:solidFill>
                  <a:srgbClr val="5E6673"/>
                </a:solidFill>
                <a:latin typeface="Arial"/>
                <a:ea typeface="Arial"/>
                <a:cs typeface="Arial"/>
              </a:rPr>
              <a:t>6</a:t>
            </a:r>
          </a:p>
        </p:txBody>
      </p:sp>
      <p:sp>
        <p:nvSpPr>
          <p:cNvPr id="6" name="">
            <a:extLst xmlns:a="http://schemas.openxmlformats.org/drawingml/2006/main">
              <a:ext uri="{FF2B5EF4-FFF2-40B4-BE49-F238E27FC236}">
                <a16:creationId xmlns:a16="http://schemas.microsoft.com/office/drawing/2014/main" id="{70E8AA73-B0FB-4AE6-A7E5-20E09D71F524}"/>
              </a:ext>
            </a:extLst>
          </p:cNvPr>
          <p:cNvSpPr>
            <a:spLocks xmlns:a="http://schemas.openxmlformats.org/drawingml/2006/main" noGrp="1"/>
          </p:cNvSpPr>
          <p:nvPr/>
        </p:nvSpPr>
        <p:spPr>
          <a:xfrm xmlns:a="http://schemas.openxmlformats.org/drawingml/2006/main">
            <a:off x="457200" y="209550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l">
              <a:defRPr sz="2100" b="1">
                <a:solidFill>
                  <a:srgbClr val="3D8DFF"/>
                </a:solidFill>
                <a:latin typeface="Arial"/>
                <a:ea typeface="Arial"/>
                <a:cs typeface="Arial"/>
              </a:defRPr>
            </a:pPr>
            <a:r>
              <a:rPr sz="2100" b="1">
                <a:solidFill>
                  <a:srgbClr val="3D8DFF"/>
                </a:solidFill>
                <a:latin typeface="Arial"/>
                <a:ea typeface="Arial"/>
                <a:cs typeface="Arial"/>
              </a:rPr>
              <a:t>/health</a:t>
            </a:r>
          </a:p>
        </p:txBody>
      </p:sp>
      <p:sp>
        <p:nvSpPr>
          <p:cNvPr id="7" name="">
            <a:extLst xmlns:a="http://schemas.openxmlformats.org/drawingml/2006/main">
              <a:ext uri="{FF2B5EF4-FFF2-40B4-BE49-F238E27FC236}">
                <a16:creationId xmlns:a16="http://schemas.microsoft.com/office/drawing/2014/main" id="{377B9F92-8F46-4B00-8270-A0107085A5C4}"/>
              </a:ext>
            </a:extLst>
          </p:cNvPr>
          <p:cNvSpPr>
            <a:spLocks xmlns:a="http://schemas.openxmlformats.org/drawingml/2006/main" noGrp="1"/>
          </p:cNvSpPr>
          <p:nvPr/>
        </p:nvSpPr>
        <p:spPr>
          <a:xfrm xmlns:a="http://schemas.openxmlformats.org/drawingml/2006/main">
            <a:off x="457200" y="2505075"/>
            <a:ext cx="400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E6673"/>
                </a:solidFill>
                <a:latin typeface="Arial"/>
                <a:ea typeface="Arial"/>
                <a:cs typeface="Arial"/>
              </a:defRPr>
            </a:pPr>
            <a:r>
              <a:rPr sz="1350" b="0">
                <a:solidFill>
                  <a:srgbClr val="5E6673"/>
                </a:solidFill>
                <a:latin typeface="Arial"/>
                <a:ea typeface="Arial"/>
                <a:cs typeface="Arial"/>
              </a:rPr>
              <a:t>Confirms that the API is ready and the model is loaded</a:t>
            </a:r>
          </a:p>
        </p:txBody>
      </p:sp>
      <p:sp>
        <p:nvSpPr>
          <p:cNvPr id="8" name="">
            <a:extLst xmlns:a="http://schemas.openxmlformats.org/drawingml/2006/main">
              <a:ext uri="{FF2B5EF4-FFF2-40B4-BE49-F238E27FC236}">
                <a16:creationId xmlns:a16="http://schemas.microsoft.com/office/drawing/2014/main" id="{93ED539E-AD3D-4D2C-AC9C-0CDC66C8F23A}"/>
              </a:ext>
            </a:extLst>
          </p:cNvPr>
          <p:cNvSpPr>
            <a:spLocks xmlns:a="http://schemas.openxmlformats.org/drawingml/2006/main" noGrp="1"/>
          </p:cNvSpPr>
          <p:nvPr/>
        </p:nvSpPr>
        <p:spPr>
          <a:xfrm xmlns:a="http://schemas.openxmlformats.org/drawingml/2006/main">
            <a:off x="457200" y="320040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l">
              <a:defRPr sz="2100" b="1">
                <a:solidFill>
                  <a:srgbClr val="3D8DFF"/>
                </a:solidFill>
                <a:latin typeface="Arial"/>
                <a:ea typeface="Arial"/>
                <a:cs typeface="Arial"/>
              </a:defRPr>
            </a:pPr>
            <a:r>
              <a:rPr sz="2100" b="1">
                <a:solidFill>
                  <a:srgbClr val="3D8DFF"/>
                </a:solidFill>
                <a:latin typeface="Arial"/>
                <a:ea typeface="Arial"/>
                <a:cs typeface="Arial"/>
              </a:rPr>
              <a:t>/predict</a:t>
            </a:r>
          </a:p>
        </p:txBody>
      </p:sp>
      <p:sp>
        <p:nvSpPr>
          <p:cNvPr id="9" name="">
            <a:extLst xmlns:a="http://schemas.openxmlformats.org/drawingml/2006/main">
              <a:ext uri="{FF2B5EF4-FFF2-40B4-BE49-F238E27FC236}">
                <a16:creationId xmlns:a16="http://schemas.microsoft.com/office/drawing/2014/main" id="{60E6CB98-E99B-49F2-8E5E-CB368FFAB292}"/>
              </a:ext>
            </a:extLst>
          </p:cNvPr>
          <p:cNvSpPr>
            <a:spLocks xmlns:a="http://schemas.openxmlformats.org/drawingml/2006/main" noGrp="1"/>
          </p:cNvSpPr>
          <p:nvPr/>
        </p:nvSpPr>
        <p:spPr>
          <a:xfrm xmlns:a="http://schemas.openxmlformats.org/drawingml/2006/main">
            <a:off x="457200" y="3609975"/>
            <a:ext cx="400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E6673"/>
                </a:solidFill>
                <a:latin typeface="Arial"/>
                <a:ea typeface="Arial"/>
                <a:cs typeface="Arial"/>
              </a:defRPr>
            </a:pPr>
            <a:r>
              <a:rPr sz="1350" b="0">
                <a:solidFill>
                  <a:srgbClr val="5E6673"/>
                </a:solidFill>
                <a:latin typeface="Arial"/>
                <a:ea typeface="Arial"/>
                <a:cs typeface="Arial"/>
              </a:rPr>
              <a:t>Validates an image and returns a class with probabilities</a:t>
            </a:r>
          </a:p>
        </p:txBody>
      </p:sp>
      <p:sp>
        <p:nvSpPr>
          <p:cNvPr id="10" name="">
            <a:extLst xmlns:a="http://schemas.openxmlformats.org/drawingml/2006/main">
              <a:ext uri="{FF2B5EF4-FFF2-40B4-BE49-F238E27FC236}">
                <a16:creationId xmlns:a16="http://schemas.microsoft.com/office/drawing/2014/main" id="{F57E0E7B-5CFD-4804-A166-AAA83DFC7080}"/>
              </a:ext>
            </a:extLst>
          </p:cNvPr>
          <p:cNvSpPr>
            <a:spLocks xmlns:a="http://schemas.openxmlformats.org/drawingml/2006/main" noGrp="1"/>
          </p:cNvSpPr>
          <p:nvPr/>
        </p:nvSpPr>
        <p:spPr>
          <a:xfrm xmlns:a="http://schemas.openxmlformats.org/drawingml/2006/main">
            <a:off x="457200" y="4305300"/>
            <a:ext cx="1619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524"/>
          </a:bodyPr>
          <a:lstStyle xmlns:a="http://schemas.openxmlformats.org/drawingml/2006/main"/>
          <a:p xmlns:a="http://schemas.openxmlformats.org/drawingml/2006/main">
            <a:pPr algn="l">
              <a:defRPr sz="2100" b="1">
                <a:solidFill>
                  <a:srgbClr val="3D8DFF"/>
                </a:solidFill>
                <a:latin typeface="Arial"/>
                <a:ea typeface="Arial"/>
                <a:cs typeface="Arial"/>
              </a:defRPr>
            </a:pPr>
            <a:r>
              <a:rPr sz="2100" b="1">
                <a:solidFill>
                  <a:srgbClr val="3D8DFF"/>
                </a:solidFill>
                <a:latin typeface="Arial"/>
                <a:ea typeface="Arial"/>
                <a:cs typeface="Arial"/>
              </a:rPr>
              <a:t>/metrics</a:t>
            </a:r>
          </a:p>
        </p:txBody>
      </p:sp>
      <p:sp>
        <p:nvSpPr>
          <p:cNvPr id="11" name="">
            <a:extLst xmlns:a="http://schemas.openxmlformats.org/drawingml/2006/main">
              <a:ext uri="{FF2B5EF4-FFF2-40B4-BE49-F238E27FC236}">
                <a16:creationId xmlns:a16="http://schemas.microsoft.com/office/drawing/2014/main" id="{C91D5E5D-9FCE-460A-8D7D-0A4C5733ED4B}"/>
              </a:ext>
            </a:extLst>
          </p:cNvPr>
          <p:cNvSpPr>
            <a:spLocks xmlns:a="http://schemas.openxmlformats.org/drawingml/2006/main" noGrp="1"/>
          </p:cNvSpPr>
          <p:nvPr/>
        </p:nvSpPr>
        <p:spPr>
          <a:xfrm xmlns:a="http://schemas.openxmlformats.org/drawingml/2006/main">
            <a:off x="457200" y="4714875"/>
            <a:ext cx="4000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E6673"/>
                </a:solidFill>
                <a:latin typeface="Arial"/>
                <a:ea typeface="Arial"/>
                <a:cs typeface="Arial"/>
              </a:defRPr>
            </a:pPr>
            <a:r>
              <a:rPr sz="1350" b="0">
                <a:solidFill>
                  <a:srgbClr val="5E6673"/>
                </a:solidFill>
                <a:latin typeface="Arial"/>
                <a:ea typeface="Arial"/>
                <a:cs typeface="Arial"/>
              </a:rPr>
              <a:t>Exposes prediction volume and latency for Prometheus</a:t>
            </a:r>
          </a:p>
        </p:txBody>
      </p:sp>
      <p:sp>
        <p:nvSpPr>
          <p:cNvPr id="12" name="">
            <a:extLst xmlns:a="http://schemas.openxmlformats.org/drawingml/2006/main">
              <a:ext uri="{FF2B5EF4-FFF2-40B4-BE49-F238E27FC236}">
                <a16:creationId xmlns:a16="http://schemas.microsoft.com/office/drawing/2014/main" id="{03739FF0-C0BF-4330-B477-6885E4CB210D}"/>
              </a:ext>
            </a:extLst>
          </p:cNvPr>
          <p:cNvSpPr>
            <a:spLocks xmlns:a="http://schemas.openxmlformats.org/drawingml/2006/main" noGrp="1"/>
          </p:cNvSpPr>
          <p:nvPr/>
        </p:nvSpPr>
        <p:spPr>
          <a:xfrm xmlns:a="http://schemas.openxmlformats.org/drawingml/2006/main">
            <a:off x="457200" y="5476875"/>
            <a:ext cx="4095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296"/>
          </a:bodyPr>
          <a:lstStyle xmlns:a="http://schemas.openxmlformats.org/drawingml/2006/main"/>
          <a:p xmlns:a="http://schemas.openxmlformats.org/drawingml/2006/main">
            <a:pPr algn="l">
              <a:defRPr sz="1350" b="1">
                <a:solidFill>
                  <a:srgbClr val="101114"/>
                </a:solidFill>
                <a:latin typeface="Arial"/>
                <a:ea typeface="Arial"/>
                <a:cs typeface="Arial"/>
              </a:defRPr>
            </a:pPr>
            <a:r>
              <a:rPr sz="1350" b="1">
                <a:solidFill>
                  <a:srgbClr val="101114"/>
                </a:solidFill>
                <a:latin typeface="Arial"/>
                <a:ea typeface="Arial"/>
                <a:cs typeface="Arial"/>
              </a:rPr>
              <a:t>Structured JSON logs include request ID, method, path, status and latency—without logging image bytes or filenames.</a:t>
            </a:r>
          </a:p>
        </p:txBody>
      </p:sp>
      <p:sp>
        <p:nvSpPr>
          <p:cNvPr id="13" name="">
            <a:extLst xmlns:a="http://schemas.openxmlformats.org/drawingml/2006/main">
              <a:ext uri="{FF2B5EF4-FFF2-40B4-BE49-F238E27FC236}">
                <a16:creationId xmlns:a16="http://schemas.microsoft.com/office/drawing/2014/main" id="{9A80DC38-E2F7-4B23-A217-A7B421E3C2B0}"/>
              </a:ext>
            </a:extLst>
          </p:cNvPr>
          <p:cNvSpPr>
            <a:spLocks xmlns:a="http://schemas.openxmlformats.org/drawingml/2006/main" noGrp="1"/>
          </p:cNvSpPr>
          <p:nvPr/>
        </p:nvSpPr>
        <p:spPr>
          <a:xfrm xmlns:a="http://schemas.openxmlformats.org/drawingml/2006/main">
            <a:off x="5048250" y="1924050"/>
            <a:ext cx="6534150" cy="4286250"/>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e4005ec985454792"/>
          <a:srcRect xmlns:a="http://schemas.openxmlformats.org/drawingml/2006/main" l="7595" t="0" r="7595" b="0"/>
          <a:stretch xmlns:a="http://schemas.openxmlformats.org/drawingml/2006/main">
            <a:fillRect l="0" t="0" r="0" b="0"/>
          </a:stretch>
        </p:blipFill>
        <p:spPr>
          <a:xfrm xmlns:a="http://schemas.openxmlformats.org/drawingml/2006/main">
            <a:off x="5048250" y="1924050"/>
            <a:ext cx="6534150" cy="428625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53257A0B-3CAC-45E5-A0C8-9248F395F608}"/>
              </a:ext>
            </a:extLst>
          </p:cNvPr>
          <p:cNvSpPr>
            <a:spLocks xmlns:a="http://schemas.openxmlformats.org/drawingml/2006/main" noGrp="1"/>
          </p:cNvSpPr>
          <p:nvPr/>
        </p:nvSpPr>
        <p:spPr>
          <a:xfrm xmlns:a="http://schemas.openxmlformats.org/drawingml/2006/main">
            <a:off x="5048250" y="6238875"/>
            <a:ext cx="495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Evidence: successful /health and /metrics requests</a:t>
            </a:r>
          </a:p>
        </p:txBody>
      </p:sp>
    </p:spTree>
    <p:extLst>
      <p:ext uri="{BB962C8B-B14F-4D97-AF65-F5344CB8AC3E}">
        <p14:creationId xmlns:p14="http://schemas.microsoft.com/office/powerpoint/2010/main" val="92370873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A5F4869-90DD-4F18-BBD5-48BF7569E514}"/>
              </a:ext>
            </a:extLst>
          </p:cNvPr>
          <p:cNvSpPr>
            <a:spLocks xmlns:a="http://schemas.openxmlformats.org/drawingml/2006/main" noGrp="1"/>
          </p:cNvSpPr>
          <p:nvPr/>
        </p:nvSpPr>
        <p:spPr>
          <a:xfrm xmlns:a="http://schemas.openxmlformats.org/drawingml/2006/main">
            <a:off x="457200" y="2667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5E6673"/>
                </a:solidFill>
                <a:latin typeface="Arial"/>
                <a:ea typeface="Arial"/>
                <a:cs typeface="Arial"/>
              </a:defRPr>
            </a:pPr>
            <a:r>
              <a:rPr sz="1125" b="1">
                <a:solidFill>
                  <a:srgbClr val="5E6673"/>
                </a:solidFill>
                <a:latin typeface="Arial"/>
                <a:ea typeface="Arial"/>
                <a:cs typeface="Arial"/>
              </a:rPr>
              <a:t>CATS VS DOGS MLOPS</a:t>
            </a:r>
          </a:p>
        </p:txBody>
      </p:sp>
      <p:sp>
        <p:nvSpPr>
          <p:cNvPr id="2" name="">
            <a:extLst xmlns:a="http://schemas.openxmlformats.org/drawingml/2006/main">
              <a:ext uri="{FF2B5EF4-FFF2-40B4-BE49-F238E27FC236}">
                <a16:creationId xmlns:a16="http://schemas.microsoft.com/office/drawing/2014/main" id="{2C1567B2-6837-43DA-BAB7-BED4380E9AE8}"/>
              </a:ext>
            </a:extLst>
          </p:cNvPr>
          <p:cNvSpPr>
            <a:spLocks xmlns:a="http://schemas.openxmlformats.org/drawingml/2006/main" noGrp="1"/>
          </p:cNvSpPr>
          <p:nvPr/>
        </p:nvSpPr>
        <p:spPr>
          <a:xfrm xmlns:a="http://schemas.openxmlformats.org/drawingml/2006/main">
            <a:off x="457200" y="628650"/>
            <a:ext cx="110966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027"/>
          </a:bodyPr>
          <a:lstStyle xmlns:a="http://schemas.openxmlformats.org/drawingml/2006/main"/>
          <a:p xmlns:a="http://schemas.openxmlformats.org/drawingml/2006/main">
            <a:pPr algn="l">
              <a:defRPr sz="2925" b="1">
                <a:solidFill>
                  <a:srgbClr val="101114"/>
                </a:solidFill>
                <a:latin typeface="Arial"/>
                <a:ea typeface="Arial"/>
                <a:cs typeface="Arial"/>
              </a:defRPr>
            </a:pPr>
            <a:r>
              <a:rPr sz="2925" b="1">
                <a:solidFill>
                  <a:srgbClr val="101114"/>
                </a:solidFill>
                <a:latin typeface="Arial"/>
                <a:ea typeface="Arial"/>
                <a:cs typeface="Arial"/>
              </a:rPr>
              <a:t>The pipeline works, but the baseline model is not production-ready</a:t>
            </a:r>
          </a:p>
        </p:txBody>
      </p:sp>
      <p:sp>
        <p:nvSpPr>
          <p:cNvPr id="3" name="">
            <a:extLst xmlns:a="http://schemas.openxmlformats.org/drawingml/2006/main">
              <a:ext uri="{FF2B5EF4-FFF2-40B4-BE49-F238E27FC236}">
                <a16:creationId xmlns:a16="http://schemas.microsoft.com/office/drawing/2014/main" id="{D42DFB38-2A49-43F1-A905-4235C7BE6B8A}"/>
              </a:ext>
            </a:extLst>
          </p:cNvPr>
          <p:cNvSpPr>
            <a:spLocks xmlns:a="http://schemas.openxmlformats.org/drawingml/2006/main" noGrp="1"/>
          </p:cNvSpPr>
          <p:nvPr/>
        </p:nvSpPr>
        <p:spPr>
          <a:xfrm xmlns:a="http://schemas.openxmlformats.org/drawingml/2006/main">
            <a:off x="457200" y="1495425"/>
            <a:ext cx="112776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94CAC39A-A8C3-4872-9FD5-EA3DF194C45E}"/>
              </a:ext>
            </a:extLst>
          </p:cNvPr>
          <p:cNvSpPr>
            <a:spLocks xmlns:a="http://schemas.openxmlformats.org/drawingml/2006/main" noGrp="1"/>
          </p:cNvSpPr>
          <p:nvPr/>
        </p:nvSpPr>
        <p:spPr>
          <a:xfrm xmlns:a="http://schemas.openxmlformats.org/drawingml/2006/main">
            <a:off x="457200" y="64960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E6673"/>
                </a:solidFill>
                <a:latin typeface="Arial"/>
                <a:ea typeface="Arial"/>
                <a:cs typeface="Arial"/>
              </a:defRPr>
            </a:pPr>
            <a:r>
              <a:rPr sz="900" b="0">
                <a:solidFill>
                  <a:srgbClr val="5E6673"/>
                </a:solidFill>
                <a:latin typeface="Arial"/>
                <a:ea typeface="Arial"/>
                <a:cs typeface="Arial"/>
              </a:rPr>
              <a:t>Navneet Kang  |  MLOps assignment</a:t>
            </a:r>
          </a:p>
        </p:txBody>
      </p:sp>
      <p:sp>
        <p:nvSpPr>
          <p:cNvPr id="5" name="">
            <a:extLst xmlns:a="http://schemas.openxmlformats.org/drawingml/2006/main">
              <a:ext uri="{FF2B5EF4-FFF2-40B4-BE49-F238E27FC236}">
                <a16:creationId xmlns:a16="http://schemas.microsoft.com/office/drawing/2014/main" id="{61E1C2B5-037B-4364-8FF5-4E0FCA165D5E}"/>
              </a:ext>
            </a:extLst>
          </p:cNvPr>
          <p:cNvSpPr>
            <a:spLocks xmlns:a="http://schemas.openxmlformats.org/drawingml/2006/main" noGrp="1"/>
          </p:cNvSpPr>
          <p:nvPr/>
        </p:nvSpPr>
        <p:spPr>
          <a:xfrm xmlns:a="http://schemas.openxmlformats.org/drawingml/2006/main">
            <a:off x="112776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r">
              <a:defRPr sz="900" b="0">
                <a:solidFill>
                  <a:srgbClr val="5E6673"/>
                </a:solidFill>
                <a:latin typeface="Arial"/>
                <a:ea typeface="Arial"/>
                <a:cs typeface="Arial"/>
              </a:defRPr>
            </a:pPr>
            <a:r>
              <a:rPr sz="900" b="0">
                <a:solidFill>
                  <a:srgbClr val="5E6673"/>
                </a:solidFill>
                <a:latin typeface="Arial"/>
                <a:ea typeface="Arial"/>
                <a:cs typeface="Arial"/>
              </a:rPr>
              <a:t>7</a:t>
            </a:r>
          </a:p>
        </p:txBody>
      </p:sp>
      <p:graphicFrame>
        <p:nvGraphicFramePr>
          <p:cNvPr id="19" name="Chart"/>
          <p:cNvGraphicFramePr/>
          <p:nvPr/>
        </p:nvGraphicFramePr>
        <p:xfrm>
          <a:off xmlns:a="http://schemas.openxmlformats.org/drawingml/2006/main" x="571500" y="2076450"/>
          <a:ext xmlns:a="http://schemas.openxmlformats.org/drawingml/2006/main" cx="6667500" cy="3714750"/>
        </p:xfrm>
        <a:graphic xmlns:a="http://schemas.openxmlformats.org/drawingml/2006/main">
          <a:graphicData uri="http://schemas.openxmlformats.org/drawingml/2006/chart">
            <c:chart xmlns:r="http://schemas.openxmlformats.org/officeDocument/2006/relationships" xmlns:c="http://schemas.openxmlformats.org/drawingml/2006/chart" r:id="R9265f3dba2c0438f"/>
          </a:graphicData>
        </a:graphic>
      </p:graphicFrame>
      <p:sp>
        <p:nvSpPr>
          <p:cNvPr id="7" name="">
            <a:extLst xmlns:a="http://schemas.openxmlformats.org/drawingml/2006/main">
              <a:ext uri="{FF2B5EF4-FFF2-40B4-BE49-F238E27FC236}">
                <a16:creationId xmlns:a16="http://schemas.microsoft.com/office/drawing/2014/main" id="{CC084E66-F776-4FD2-8D65-4F7E462207D5}"/>
              </a:ext>
            </a:extLst>
          </p:cNvPr>
          <p:cNvSpPr>
            <a:spLocks xmlns:a="http://schemas.openxmlformats.org/drawingml/2006/main" noGrp="1"/>
          </p:cNvSpPr>
          <p:nvPr/>
        </p:nvSpPr>
        <p:spPr>
          <a:xfrm xmlns:a="http://schemas.openxmlformats.org/drawingml/2006/main">
            <a:off x="7762875" y="2143125"/>
            <a:ext cx="3524250" cy="1428750"/>
          </a:xfrm>
          <a:prstGeom xmlns:a="http://schemas.openxmlformats.org/drawingml/2006/main" prst="rect">
            <a:avLst/>
          </a:prstGeom>
          <a:solidFill xmlns:a="http://schemas.openxmlformats.org/drawingml/2006/main">
            <a:srgbClr val="F7F8FA"/>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D4FC9C1-3EC6-418C-83A7-A3A8E68F3211}"/>
              </a:ext>
            </a:extLst>
          </p:cNvPr>
          <p:cNvSpPr>
            <a:spLocks xmlns:a="http://schemas.openxmlformats.org/drawingml/2006/main" noGrp="1"/>
          </p:cNvSpPr>
          <p:nvPr/>
        </p:nvSpPr>
        <p:spPr>
          <a:xfrm xmlns:a="http://schemas.openxmlformats.org/drawingml/2006/main">
            <a:off x="8020050" y="2381250"/>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500"/>
          </a:bodyPr>
          <a:lstStyle xmlns:a="http://schemas.openxmlformats.org/drawingml/2006/main"/>
          <a:p xmlns:a="http://schemas.openxmlformats.org/drawingml/2006/main">
            <a:pPr algn="l">
              <a:defRPr sz="3600" b="1">
                <a:solidFill>
                  <a:srgbClr val="3D8DFF"/>
                </a:solidFill>
                <a:latin typeface="Arial"/>
                <a:ea typeface="Arial"/>
                <a:cs typeface="Arial"/>
              </a:defRPr>
            </a:pPr>
            <a:r>
              <a:rPr sz="3600" b="1">
                <a:solidFill>
                  <a:srgbClr val="3D8DFF"/>
                </a:solidFill>
                <a:latin typeface="Arial"/>
                <a:ea typeface="Arial"/>
                <a:cs typeface="Arial"/>
              </a:rPr>
              <a:t>50.3%</a:t>
            </a:r>
          </a:p>
        </p:txBody>
      </p:sp>
      <p:sp>
        <p:nvSpPr>
          <p:cNvPr id="9" name="">
            <a:extLst xmlns:a="http://schemas.openxmlformats.org/drawingml/2006/main">
              <a:ext uri="{FF2B5EF4-FFF2-40B4-BE49-F238E27FC236}">
                <a16:creationId xmlns:a16="http://schemas.microsoft.com/office/drawing/2014/main" id="{DA5386D8-5D28-4CC3-9C98-612505215640}"/>
              </a:ext>
            </a:extLst>
          </p:cNvPr>
          <p:cNvSpPr>
            <a:spLocks xmlns:a="http://schemas.openxmlformats.org/drawingml/2006/main" noGrp="1"/>
          </p:cNvSpPr>
          <p:nvPr/>
        </p:nvSpPr>
        <p:spPr>
          <a:xfrm xmlns:a="http://schemas.openxmlformats.org/drawingml/2006/main">
            <a:off x="8020050" y="3000375"/>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E6673"/>
                </a:solidFill>
                <a:latin typeface="Arial"/>
                <a:ea typeface="Arial"/>
                <a:cs typeface="Arial"/>
              </a:defRPr>
            </a:pPr>
            <a:r>
              <a:rPr sz="1350" b="0">
                <a:solidFill>
                  <a:srgbClr val="5E6673"/>
                </a:solidFill>
                <a:latin typeface="Arial"/>
                <a:ea typeface="Arial"/>
                <a:cs typeface="Arial"/>
              </a:rPr>
              <a:t>offline test accuracy</a:t>
            </a:r>
          </a:p>
        </p:txBody>
      </p:sp>
      <p:sp>
        <p:nvSpPr>
          <p:cNvPr id="10" name="">
            <a:extLst xmlns:a="http://schemas.openxmlformats.org/drawingml/2006/main">
              <a:ext uri="{FF2B5EF4-FFF2-40B4-BE49-F238E27FC236}">
                <a16:creationId xmlns:a16="http://schemas.microsoft.com/office/drawing/2014/main" id="{6D035DFD-1B86-4C43-A25C-3D78EBF4FB07}"/>
              </a:ext>
            </a:extLst>
          </p:cNvPr>
          <p:cNvSpPr>
            <a:spLocks xmlns:a="http://schemas.openxmlformats.org/drawingml/2006/main" noGrp="1"/>
          </p:cNvSpPr>
          <p:nvPr/>
        </p:nvSpPr>
        <p:spPr>
          <a:xfrm xmlns:a="http://schemas.openxmlformats.org/drawingml/2006/main">
            <a:off x="7762875" y="3790950"/>
            <a:ext cx="3524250" cy="1428750"/>
          </a:xfrm>
          <a:prstGeom xmlns:a="http://schemas.openxmlformats.org/drawingml/2006/main" prst="rect">
            <a:avLst/>
          </a:prstGeom>
          <a:solidFill xmlns:a="http://schemas.openxmlformats.org/drawingml/2006/main">
            <a:srgbClr val="FFF2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83B81CE-7E1B-44C6-A578-8ACC562817D1}"/>
              </a:ext>
            </a:extLst>
          </p:cNvPr>
          <p:cNvSpPr>
            <a:spLocks xmlns:a="http://schemas.openxmlformats.org/drawingml/2006/main" noGrp="1"/>
          </p:cNvSpPr>
          <p:nvPr/>
        </p:nvSpPr>
        <p:spPr>
          <a:xfrm xmlns:a="http://schemas.openxmlformats.org/drawingml/2006/main">
            <a:off x="8020050" y="4029075"/>
            <a:ext cx="2952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7500"/>
          </a:bodyPr>
          <a:lstStyle xmlns:a="http://schemas.openxmlformats.org/drawingml/2006/main"/>
          <a:p xmlns:a="http://schemas.openxmlformats.org/drawingml/2006/main">
            <a:pPr algn="l">
              <a:defRPr sz="3600" b="1">
                <a:solidFill>
                  <a:srgbClr val="A95F00"/>
                </a:solidFill>
                <a:latin typeface="Arial"/>
                <a:ea typeface="Arial"/>
                <a:cs typeface="Arial"/>
              </a:defRPr>
            </a:pPr>
            <a:r>
              <a:rPr sz="3600" b="1">
                <a:solidFill>
                  <a:srgbClr val="A95F00"/>
                </a:solidFill>
                <a:latin typeface="Arial"/>
                <a:ea typeface="Arial"/>
                <a:cs typeface="Arial"/>
              </a:rPr>
              <a:t>3.87%</a:t>
            </a:r>
          </a:p>
        </p:txBody>
      </p:sp>
      <p:sp>
        <p:nvSpPr>
          <p:cNvPr id="12" name="">
            <a:extLst xmlns:a="http://schemas.openxmlformats.org/drawingml/2006/main">
              <a:ext uri="{FF2B5EF4-FFF2-40B4-BE49-F238E27FC236}">
                <a16:creationId xmlns:a16="http://schemas.microsoft.com/office/drawing/2014/main" id="{C9864622-2369-4E56-A274-1FD781AFB6BB}"/>
              </a:ext>
            </a:extLst>
          </p:cNvPr>
          <p:cNvSpPr>
            <a:spLocks xmlns:a="http://schemas.openxmlformats.org/drawingml/2006/main" noGrp="1"/>
          </p:cNvSpPr>
          <p:nvPr/>
        </p:nvSpPr>
        <p:spPr>
          <a:xfrm xmlns:a="http://schemas.openxmlformats.org/drawingml/2006/main">
            <a:off x="8020050" y="464820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5E6673"/>
                </a:solidFill>
                <a:latin typeface="Arial"/>
                <a:ea typeface="Arial"/>
                <a:cs typeface="Arial"/>
              </a:defRPr>
            </a:pPr>
            <a:r>
              <a:rPr sz="1350" b="0">
                <a:solidFill>
                  <a:srgbClr val="5E6673"/>
                </a:solidFill>
                <a:latin typeface="Arial"/>
                <a:ea typeface="Arial"/>
                <a:cs typeface="Arial"/>
              </a:rPr>
              <a:t>offline dog-class F1</a:t>
            </a:r>
          </a:p>
        </p:txBody>
      </p:sp>
      <p:sp>
        <p:nvSpPr>
          <p:cNvPr id="13" name="">
            <a:extLst xmlns:a="http://schemas.openxmlformats.org/drawingml/2006/main">
              <a:ext uri="{FF2B5EF4-FFF2-40B4-BE49-F238E27FC236}">
                <a16:creationId xmlns:a16="http://schemas.microsoft.com/office/drawing/2014/main" id="{E4AFDD20-4361-4BC0-8801-1FED46115FFC}"/>
              </a:ext>
            </a:extLst>
          </p:cNvPr>
          <p:cNvSpPr>
            <a:spLocks xmlns:a="http://schemas.openxmlformats.org/drawingml/2006/main" noGrp="1"/>
          </p:cNvSpPr>
          <p:nvPr/>
        </p:nvSpPr>
        <p:spPr>
          <a:xfrm xmlns:a="http://schemas.openxmlformats.org/drawingml/2006/main">
            <a:off x="7762875" y="5410200"/>
            <a:ext cx="35242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1176"/>
          </a:bodyPr>
          <a:lstStyle xmlns:a="http://schemas.openxmlformats.org/drawingml/2006/main"/>
          <a:p xmlns:a="http://schemas.openxmlformats.org/drawingml/2006/main">
            <a:pPr algn="l">
              <a:defRPr sz="1275" b="1">
                <a:solidFill>
                  <a:srgbClr val="101114"/>
                </a:solidFill>
                <a:latin typeface="Arial"/>
                <a:ea typeface="Arial"/>
                <a:cs typeface="Arial"/>
              </a:defRPr>
            </a:pPr>
            <a:r>
              <a:rPr sz="1275" b="1">
                <a:solidFill>
                  <a:srgbClr val="101114"/>
                </a:solidFill>
                <a:latin typeface="Arial"/>
                <a:ea typeface="Arial"/>
                <a:cs typeface="Arial"/>
              </a:rPr>
              <a:t>Interpretation: accuracy is near chance and the dog class is recognized poorly. The engineering workflow is successful; model quality needs improvement.</a:t>
            </a:r>
          </a:p>
        </p:txBody>
      </p:sp>
    </p:spTree>
    <p:extLst>
      <p:ext uri="{BB962C8B-B14F-4D97-AF65-F5344CB8AC3E}">
        <p14:creationId xmlns:p14="http://schemas.microsoft.com/office/powerpoint/2010/main" val="8700088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F62705F-539D-415D-9D35-BB1AFA66FAFE}"/>
              </a:ext>
            </a:extLst>
          </p:cNvPr>
          <p:cNvSpPr>
            <a:spLocks xmlns:a="http://schemas.openxmlformats.org/drawingml/2006/main" noGrp="1"/>
          </p:cNvSpPr>
          <p:nvPr/>
        </p:nvSpPr>
        <p:spPr>
          <a:xfrm xmlns:a="http://schemas.openxmlformats.org/drawingml/2006/main">
            <a:off x="457200" y="2667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5E6673"/>
                </a:solidFill>
                <a:latin typeface="Arial"/>
                <a:ea typeface="Arial"/>
                <a:cs typeface="Arial"/>
              </a:defRPr>
            </a:pPr>
            <a:r>
              <a:rPr sz="1125" b="1">
                <a:solidFill>
                  <a:srgbClr val="5E6673"/>
                </a:solidFill>
                <a:latin typeface="Arial"/>
                <a:ea typeface="Arial"/>
                <a:cs typeface="Arial"/>
              </a:rPr>
              <a:t>CATS VS DOGS MLOPS</a:t>
            </a:r>
          </a:p>
        </p:txBody>
      </p:sp>
      <p:sp>
        <p:nvSpPr>
          <p:cNvPr id="2" name="">
            <a:extLst xmlns:a="http://schemas.openxmlformats.org/drawingml/2006/main">
              <a:ext uri="{FF2B5EF4-FFF2-40B4-BE49-F238E27FC236}">
                <a16:creationId xmlns:a16="http://schemas.microsoft.com/office/drawing/2014/main" id="{B910071E-FCB2-4283-BFBB-787E698DD452}"/>
              </a:ext>
            </a:extLst>
          </p:cNvPr>
          <p:cNvSpPr>
            <a:spLocks xmlns:a="http://schemas.openxmlformats.org/drawingml/2006/main" noGrp="1"/>
          </p:cNvSpPr>
          <p:nvPr/>
        </p:nvSpPr>
        <p:spPr>
          <a:xfrm xmlns:a="http://schemas.openxmlformats.org/drawingml/2006/main">
            <a:off x="457200" y="628650"/>
            <a:ext cx="110966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101114"/>
                </a:solidFill>
                <a:latin typeface="Arial"/>
                <a:ea typeface="Arial"/>
                <a:cs typeface="Arial"/>
              </a:defRPr>
            </a:pPr>
            <a:r>
              <a:rPr sz="2925" b="1">
                <a:solidFill>
                  <a:srgbClr val="101114"/>
                </a:solidFill>
                <a:latin typeface="Arial"/>
                <a:ea typeface="Arial"/>
                <a:cs typeface="Arial"/>
              </a:rPr>
              <a:t>Post-deployment evaluation tests the live prediction path</a:t>
            </a:r>
          </a:p>
        </p:txBody>
      </p:sp>
      <p:sp>
        <p:nvSpPr>
          <p:cNvPr id="3" name="">
            <a:extLst xmlns:a="http://schemas.openxmlformats.org/drawingml/2006/main">
              <a:ext uri="{FF2B5EF4-FFF2-40B4-BE49-F238E27FC236}">
                <a16:creationId xmlns:a16="http://schemas.microsoft.com/office/drawing/2014/main" id="{C3D36E17-F7A6-4AF0-B40E-564CE7E076AC}"/>
              </a:ext>
            </a:extLst>
          </p:cNvPr>
          <p:cNvSpPr>
            <a:spLocks xmlns:a="http://schemas.openxmlformats.org/drawingml/2006/main" noGrp="1"/>
          </p:cNvSpPr>
          <p:nvPr/>
        </p:nvSpPr>
        <p:spPr>
          <a:xfrm xmlns:a="http://schemas.openxmlformats.org/drawingml/2006/main">
            <a:off x="457200" y="1495425"/>
            <a:ext cx="112776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2AFDBADC-BFDD-4894-8A3D-DC35797D3F58}"/>
              </a:ext>
            </a:extLst>
          </p:cNvPr>
          <p:cNvSpPr>
            <a:spLocks xmlns:a="http://schemas.openxmlformats.org/drawingml/2006/main" noGrp="1"/>
          </p:cNvSpPr>
          <p:nvPr/>
        </p:nvSpPr>
        <p:spPr>
          <a:xfrm xmlns:a="http://schemas.openxmlformats.org/drawingml/2006/main">
            <a:off x="457200" y="64960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E6673"/>
                </a:solidFill>
                <a:latin typeface="Arial"/>
                <a:ea typeface="Arial"/>
                <a:cs typeface="Arial"/>
              </a:defRPr>
            </a:pPr>
            <a:r>
              <a:rPr sz="900" b="0">
                <a:solidFill>
                  <a:srgbClr val="5E6673"/>
                </a:solidFill>
                <a:latin typeface="Arial"/>
                <a:ea typeface="Arial"/>
                <a:cs typeface="Arial"/>
              </a:rPr>
              <a:t>Navneet Kang  |  MLOps assignment</a:t>
            </a:r>
          </a:p>
        </p:txBody>
      </p:sp>
      <p:sp>
        <p:nvSpPr>
          <p:cNvPr id="5" name="">
            <a:extLst xmlns:a="http://schemas.openxmlformats.org/drawingml/2006/main">
              <a:ext uri="{FF2B5EF4-FFF2-40B4-BE49-F238E27FC236}">
                <a16:creationId xmlns:a16="http://schemas.microsoft.com/office/drawing/2014/main" id="{0BF681FE-88E3-43B7-88F8-073964177D1E}"/>
              </a:ext>
            </a:extLst>
          </p:cNvPr>
          <p:cNvSpPr>
            <a:spLocks xmlns:a="http://schemas.openxmlformats.org/drawingml/2006/main" noGrp="1"/>
          </p:cNvSpPr>
          <p:nvPr/>
        </p:nvSpPr>
        <p:spPr>
          <a:xfrm xmlns:a="http://schemas.openxmlformats.org/drawingml/2006/main">
            <a:off x="112776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r">
              <a:defRPr sz="900" b="0">
                <a:solidFill>
                  <a:srgbClr val="5E6673"/>
                </a:solidFill>
                <a:latin typeface="Arial"/>
                <a:ea typeface="Arial"/>
                <a:cs typeface="Arial"/>
              </a:defRPr>
            </a:pPr>
            <a:r>
              <a:rPr sz="900" b="0">
                <a:solidFill>
                  <a:srgbClr val="5E6673"/>
                </a:solidFill>
                <a:latin typeface="Arial"/>
                <a:ea typeface="Arial"/>
                <a:cs typeface="Arial"/>
              </a:rPr>
              <a:t>8</a:t>
            </a:r>
          </a:p>
        </p:txBody>
      </p:sp>
      <p:sp>
        <p:nvSpPr>
          <p:cNvPr id="6" name="">
            <a:extLst xmlns:a="http://schemas.openxmlformats.org/drawingml/2006/main">
              <a:ext uri="{FF2B5EF4-FFF2-40B4-BE49-F238E27FC236}">
                <a16:creationId xmlns:a16="http://schemas.microsoft.com/office/drawing/2014/main" id="{C3EBE703-C52A-409F-9630-549FE46EED77}"/>
              </a:ext>
            </a:extLst>
          </p:cNvPr>
          <p:cNvSpPr>
            <a:spLocks xmlns:a="http://schemas.openxmlformats.org/drawingml/2006/main" noGrp="1"/>
          </p:cNvSpPr>
          <p:nvPr/>
        </p:nvSpPr>
        <p:spPr>
          <a:xfrm xmlns:a="http://schemas.openxmlformats.org/drawingml/2006/main">
            <a:off x="457200" y="1952625"/>
            <a:ext cx="5334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942"/>
          </a:bodyPr>
          <a:lstStyle xmlns:a="http://schemas.openxmlformats.org/drawingml/2006/main"/>
          <a:p xmlns:a="http://schemas.openxmlformats.org/drawingml/2006/main">
            <a:pPr algn="l">
              <a:defRPr sz="1725" b="1">
                <a:solidFill>
                  <a:srgbClr val="101114"/>
                </a:solidFill>
                <a:latin typeface="Arial"/>
                <a:ea typeface="Arial"/>
                <a:cs typeface="Arial"/>
              </a:defRPr>
            </a:pPr>
            <a:r>
              <a:rPr sz="1725" b="1">
                <a:solidFill>
                  <a:srgbClr val="101114"/>
                </a:solidFill>
                <a:latin typeface="Arial"/>
                <a:ea typeface="Arial"/>
                <a:cs typeface="Arial"/>
              </a:rPr>
              <a:t>Unlike offline evaluation, this test sends labeled images through the deployed API—including upload handling, preprocessing, model inference and response parsing.</a:t>
            </a:r>
          </a:p>
        </p:txBody>
      </p:sp>
      <p:sp>
        <p:nvSpPr>
          <p:cNvPr id="7" name="">
            <a:extLst xmlns:a="http://schemas.openxmlformats.org/drawingml/2006/main">
              <a:ext uri="{FF2B5EF4-FFF2-40B4-BE49-F238E27FC236}">
                <a16:creationId xmlns:a16="http://schemas.microsoft.com/office/drawing/2014/main" id="{7A87C09A-ED85-49B5-9078-CA13E2E6228A}"/>
              </a:ext>
            </a:extLst>
          </p:cNvPr>
          <p:cNvSpPr>
            <a:spLocks xmlns:a="http://schemas.openxmlformats.org/drawingml/2006/main" noGrp="1"/>
          </p:cNvSpPr>
          <p:nvPr/>
        </p:nvSpPr>
        <p:spPr>
          <a:xfrm xmlns:a="http://schemas.openxmlformats.org/drawingml/2006/main">
            <a:off x="457200" y="3476625"/>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3D8DFF"/>
                </a:solidFill>
                <a:latin typeface="Arial"/>
                <a:ea typeface="Arial"/>
                <a:cs typeface="Arial"/>
              </a:defRPr>
            </a:pPr>
            <a:r>
              <a:rPr sz="3600" b="1">
                <a:solidFill>
                  <a:srgbClr val="3D8DFF"/>
                </a:solidFill>
                <a:latin typeface="Arial"/>
                <a:ea typeface="Arial"/>
                <a:cs typeface="Arial"/>
              </a:rPr>
              <a:t>20</a:t>
            </a:r>
          </a:p>
        </p:txBody>
      </p:sp>
      <p:sp>
        <p:nvSpPr>
          <p:cNvPr id="8" name="">
            <a:extLst xmlns:a="http://schemas.openxmlformats.org/drawingml/2006/main">
              <a:ext uri="{FF2B5EF4-FFF2-40B4-BE49-F238E27FC236}">
                <a16:creationId xmlns:a16="http://schemas.microsoft.com/office/drawing/2014/main" id="{4CF89BE4-86A2-441C-9E5B-70724905B3C4}"/>
              </a:ext>
            </a:extLst>
          </p:cNvPr>
          <p:cNvSpPr>
            <a:spLocks xmlns:a="http://schemas.openxmlformats.org/drawingml/2006/main" noGrp="1"/>
          </p:cNvSpPr>
          <p:nvPr/>
        </p:nvSpPr>
        <p:spPr>
          <a:xfrm xmlns:a="http://schemas.openxmlformats.org/drawingml/2006/main">
            <a:off x="457200" y="4238625"/>
            <a:ext cx="157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labeled images</a:t>
            </a:r>
          </a:p>
        </p:txBody>
      </p:sp>
      <p:sp>
        <p:nvSpPr>
          <p:cNvPr id="9" name="">
            <a:extLst xmlns:a="http://schemas.openxmlformats.org/drawingml/2006/main">
              <a:ext uri="{FF2B5EF4-FFF2-40B4-BE49-F238E27FC236}">
                <a16:creationId xmlns:a16="http://schemas.microsoft.com/office/drawing/2014/main" id="{62A576E4-AC95-49A3-9217-0AD40F0FE271}"/>
              </a:ext>
            </a:extLst>
          </p:cNvPr>
          <p:cNvSpPr>
            <a:spLocks xmlns:a="http://schemas.openxmlformats.org/drawingml/2006/main" noGrp="1"/>
          </p:cNvSpPr>
          <p:nvPr/>
        </p:nvSpPr>
        <p:spPr>
          <a:xfrm xmlns:a="http://schemas.openxmlformats.org/drawingml/2006/main">
            <a:off x="2219325" y="3476625"/>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A95F00"/>
                </a:solidFill>
                <a:latin typeface="Arial"/>
                <a:ea typeface="Arial"/>
                <a:cs typeface="Arial"/>
              </a:defRPr>
            </a:pPr>
            <a:r>
              <a:rPr sz="3600" b="1">
                <a:solidFill>
                  <a:srgbClr val="A95F00"/>
                </a:solidFill>
                <a:latin typeface="Arial"/>
                <a:ea typeface="Arial"/>
                <a:cs typeface="Arial"/>
              </a:rPr>
              <a:t>50%</a:t>
            </a:r>
          </a:p>
        </p:txBody>
      </p:sp>
      <p:sp>
        <p:nvSpPr>
          <p:cNvPr id="10" name="">
            <a:extLst xmlns:a="http://schemas.openxmlformats.org/drawingml/2006/main">
              <a:ext uri="{FF2B5EF4-FFF2-40B4-BE49-F238E27FC236}">
                <a16:creationId xmlns:a16="http://schemas.microsoft.com/office/drawing/2014/main" id="{D93AA084-0D06-4A16-801C-8F6E5525BBA8}"/>
              </a:ext>
            </a:extLst>
          </p:cNvPr>
          <p:cNvSpPr>
            <a:spLocks xmlns:a="http://schemas.openxmlformats.org/drawingml/2006/main" noGrp="1"/>
          </p:cNvSpPr>
          <p:nvPr/>
        </p:nvSpPr>
        <p:spPr>
          <a:xfrm xmlns:a="http://schemas.openxmlformats.org/drawingml/2006/main">
            <a:off x="2219325" y="4238625"/>
            <a:ext cx="157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accuracy</a:t>
            </a:r>
          </a:p>
        </p:txBody>
      </p:sp>
      <p:sp>
        <p:nvSpPr>
          <p:cNvPr id="11" name="">
            <a:extLst xmlns:a="http://schemas.openxmlformats.org/drawingml/2006/main">
              <a:ext uri="{FF2B5EF4-FFF2-40B4-BE49-F238E27FC236}">
                <a16:creationId xmlns:a16="http://schemas.microsoft.com/office/drawing/2014/main" id="{2775B2D7-E998-4A47-AB45-8A7DE7282919}"/>
              </a:ext>
            </a:extLst>
          </p:cNvPr>
          <p:cNvSpPr>
            <a:spLocks xmlns:a="http://schemas.openxmlformats.org/drawingml/2006/main" noGrp="1"/>
          </p:cNvSpPr>
          <p:nvPr/>
        </p:nvSpPr>
        <p:spPr>
          <a:xfrm xmlns:a="http://schemas.openxmlformats.org/drawingml/2006/main">
            <a:off x="3981450" y="3476625"/>
            <a:ext cx="1524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3600" b="1">
                <a:solidFill>
                  <a:srgbClr val="A95F00"/>
                </a:solidFill>
                <a:latin typeface="Arial"/>
                <a:ea typeface="Arial"/>
                <a:cs typeface="Arial"/>
              </a:defRPr>
            </a:pPr>
            <a:r>
              <a:rPr sz="3600" b="1">
                <a:solidFill>
                  <a:srgbClr val="A95F00"/>
                </a:solidFill>
                <a:latin typeface="Arial"/>
                <a:ea typeface="Arial"/>
                <a:cs typeface="Arial"/>
              </a:rPr>
              <a:t>0%</a:t>
            </a:r>
          </a:p>
        </p:txBody>
      </p:sp>
      <p:sp>
        <p:nvSpPr>
          <p:cNvPr id="12" name="">
            <a:extLst xmlns:a="http://schemas.openxmlformats.org/drawingml/2006/main">
              <a:ext uri="{FF2B5EF4-FFF2-40B4-BE49-F238E27FC236}">
                <a16:creationId xmlns:a16="http://schemas.microsoft.com/office/drawing/2014/main" id="{3CC38AD2-1C51-4FF9-A0B4-40350FCA6B3B}"/>
              </a:ext>
            </a:extLst>
          </p:cNvPr>
          <p:cNvSpPr>
            <a:spLocks xmlns:a="http://schemas.openxmlformats.org/drawingml/2006/main" noGrp="1"/>
          </p:cNvSpPr>
          <p:nvPr/>
        </p:nvSpPr>
        <p:spPr>
          <a:xfrm xmlns:a="http://schemas.openxmlformats.org/drawingml/2006/main">
            <a:off x="3981450" y="4238625"/>
            <a:ext cx="157162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5E6673"/>
                </a:solidFill>
                <a:latin typeface="Arial"/>
                <a:ea typeface="Arial"/>
                <a:cs typeface="Arial"/>
              </a:defRPr>
            </a:pPr>
            <a:r>
              <a:rPr sz="1275" b="0">
                <a:solidFill>
                  <a:srgbClr val="5E6673"/>
                </a:solidFill>
                <a:latin typeface="Arial"/>
                <a:ea typeface="Arial"/>
                <a:cs typeface="Arial"/>
              </a:rPr>
              <a:t>dog-class F1</a:t>
            </a:r>
          </a:p>
        </p:txBody>
      </p:sp>
      <p:sp>
        <p:nvSpPr>
          <p:cNvPr id="13" name="">
            <a:extLst xmlns:a="http://schemas.openxmlformats.org/drawingml/2006/main">
              <a:ext uri="{FF2B5EF4-FFF2-40B4-BE49-F238E27FC236}">
                <a16:creationId xmlns:a16="http://schemas.microsoft.com/office/drawing/2014/main" id="{448DAFA7-13F4-4CAD-A2E2-4B1D407D04C4}"/>
              </a:ext>
            </a:extLst>
          </p:cNvPr>
          <p:cNvSpPr>
            <a:spLocks xmlns:a="http://schemas.openxmlformats.org/drawingml/2006/main" noGrp="1"/>
          </p:cNvSpPr>
          <p:nvPr/>
        </p:nvSpPr>
        <p:spPr>
          <a:xfrm xmlns:a="http://schemas.openxmlformats.org/drawingml/2006/main">
            <a:off x="457200" y="5143500"/>
            <a:ext cx="5286375" cy="838200"/>
          </a:xfrm>
          <a:prstGeom xmlns:a="http://schemas.openxmlformats.org/drawingml/2006/main" prst="rect">
            <a:avLst/>
          </a:prstGeom>
          <a:solidFill xmlns:a="http://schemas.openxmlformats.org/drawingml/2006/main">
            <a:srgbClr val="FFF2D8"/>
          </a:solidFill>
          <a:ln xmlns:a="http://schemas.openxmlformats.org/drawingml/2006/main" w="9525">
            <a:solidFill>
              <a:srgbClr val="A95F00"/>
            </a:solidFill>
            <a:prstDash val="solid"/>
          </a:ln>
        </p:spPr>
      </p:sp>
      <p:sp>
        <p:nvSpPr>
          <p:cNvPr id="14" name="">
            <a:extLst xmlns:a="http://schemas.openxmlformats.org/drawingml/2006/main">
              <a:ext uri="{FF2B5EF4-FFF2-40B4-BE49-F238E27FC236}">
                <a16:creationId xmlns:a16="http://schemas.microsoft.com/office/drawing/2014/main" id="{CD29C8D7-2F23-4FE6-80AD-B162C799B7D3}"/>
              </a:ext>
            </a:extLst>
          </p:cNvPr>
          <p:cNvSpPr>
            <a:spLocks xmlns:a="http://schemas.openxmlformats.org/drawingml/2006/main" noGrp="1"/>
          </p:cNvSpPr>
          <p:nvPr/>
        </p:nvSpPr>
        <p:spPr>
          <a:xfrm xmlns:a="http://schemas.openxmlformats.org/drawingml/2006/main">
            <a:off x="647700" y="5334000"/>
            <a:ext cx="4905375"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062"/>
          </a:bodyPr>
          <a:lstStyle xmlns:a="http://schemas.openxmlformats.org/drawingml/2006/main"/>
          <a:p xmlns:a="http://schemas.openxmlformats.org/drawingml/2006/main">
            <a:pPr algn="l">
              <a:defRPr sz="1275" b="1">
                <a:solidFill>
                  <a:srgbClr val="A95F00"/>
                </a:solidFill>
                <a:latin typeface="Arial"/>
                <a:ea typeface="Arial"/>
                <a:cs typeface="Arial"/>
              </a:defRPr>
            </a:pPr>
            <a:r>
              <a:rPr sz="1275" b="1">
                <a:solidFill>
                  <a:srgbClr val="A95F00"/>
                </a:solidFill>
                <a:latin typeface="Arial"/>
                <a:ea typeface="Arial"/>
                <a:cs typeface="Arial"/>
              </a:rPr>
              <a:t>Evidence note: the evaluator exists in GitHub, but artifacts/post_deploy_metrics.json should still be committed to main.</a:t>
            </a:r>
          </a:p>
        </p:txBody>
      </p:sp>
      <p:sp>
        <p:nvSpPr>
          <p:cNvPr id="15" name="">
            <a:extLst xmlns:a="http://schemas.openxmlformats.org/drawingml/2006/main">
              <a:ext uri="{FF2B5EF4-FFF2-40B4-BE49-F238E27FC236}">
                <a16:creationId xmlns:a16="http://schemas.microsoft.com/office/drawing/2014/main" id="{B7993D8C-7849-4B2F-8986-3B84251C7992}"/>
              </a:ext>
            </a:extLst>
          </p:cNvPr>
          <p:cNvSpPr>
            <a:spLocks xmlns:a="http://schemas.openxmlformats.org/drawingml/2006/main" noGrp="1"/>
          </p:cNvSpPr>
          <p:nvPr/>
        </p:nvSpPr>
        <p:spPr>
          <a:xfrm xmlns:a="http://schemas.openxmlformats.org/drawingml/2006/main">
            <a:off x="6381750" y="1857375"/>
            <a:ext cx="4762500" cy="4362450"/>
          </a:xfrm>
          <a:prstGeom xmlns:a="http://schemas.openxmlformats.org/drawingml/2006/main" prst="rect">
            <a:avLst/>
          </a:prstGeom>
          <a:solidFill xmlns:a="http://schemas.openxmlformats.org/drawingml/2006/main">
            <a:srgbClr val="F7F8FA"/>
          </a:solidFill>
          <a:ln xmlns:a="http://schemas.openxmlformats.org/drawingml/2006/main" w="9525">
            <a:solidFill>
              <a:srgbClr val="B8BCC4"/>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59ea355d54174805"/>
          <a:stretch xmlns:a="http://schemas.openxmlformats.org/drawingml/2006/main"/>
        </p:blipFill>
        <p:spPr>
          <a:xfrm xmlns:a="http://schemas.openxmlformats.org/drawingml/2006/main">
            <a:off x="6489710" y="1857375"/>
            <a:ext cx="4546579" cy="43624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C1C13461-CACE-4997-873D-0EF5004F6A4B}"/>
              </a:ext>
            </a:extLst>
          </p:cNvPr>
          <p:cNvSpPr>
            <a:spLocks xmlns:a="http://schemas.openxmlformats.org/drawingml/2006/main" noGrp="1"/>
          </p:cNvSpPr>
          <p:nvPr/>
        </p:nvSpPr>
        <p:spPr>
          <a:xfrm xmlns:a="http://schemas.openxmlformats.org/drawingml/2006/main">
            <a:off x="6381750" y="6248400"/>
            <a:ext cx="4286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975" b="1">
                <a:solidFill>
                  <a:srgbClr val="3D8DFF"/>
                </a:solidFill>
                <a:latin typeface="Arial"/>
                <a:ea typeface="Arial"/>
                <a:cs typeface="Arial"/>
              </a:defRPr>
            </a:pPr>
            <a:r>
              <a:rPr sz="975" b="1">
                <a:solidFill>
                  <a:srgbClr val="3D8DFF"/>
                </a:solidFill>
                <a:latin typeface="Arial"/>
                <a:ea typeface="Arial"/>
                <a:cs typeface="Arial"/>
              </a:rPr>
              <a:t>Evidence: deployed endpoint evaluation output</a:t>
            </a:r>
          </a:p>
        </p:txBody>
      </p:sp>
    </p:spTree>
    <p:extLst>
      <p:ext uri="{BB962C8B-B14F-4D97-AF65-F5344CB8AC3E}">
        <p14:creationId xmlns:p14="http://schemas.microsoft.com/office/powerpoint/2010/main" val="72639855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47FBDE27-C62B-44FD-B84C-C90F7576F5BD}"/>
              </a:ext>
            </a:extLst>
          </p:cNvPr>
          <p:cNvSpPr>
            <a:spLocks xmlns:a="http://schemas.openxmlformats.org/drawingml/2006/main" noGrp="1"/>
          </p:cNvSpPr>
          <p:nvPr/>
        </p:nvSpPr>
        <p:spPr>
          <a:xfrm xmlns:a="http://schemas.openxmlformats.org/drawingml/2006/main">
            <a:off x="457200" y="266700"/>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5E6673"/>
                </a:solidFill>
                <a:latin typeface="Arial"/>
                <a:ea typeface="Arial"/>
                <a:cs typeface="Arial"/>
              </a:defRPr>
            </a:pPr>
            <a:r>
              <a:rPr sz="1125" b="1">
                <a:solidFill>
                  <a:srgbClr val="5E6673"/>
                </a:solidFill>
                <a:latin typeface="Arial"/>
                <a:ea typeface="Arial"/>
                <a:cs typeface="Arial"/>
              </a:rPr>
              <a:t>CATS VS DOGS MLOPS</a:t>
            </a:r>
          </a:p>
        </p:txBody>
      </p:sp>
      <p:sp>
        <p:nvSpPr>
          <p:cNvPr id="2" name="">
            <a:extLst xmlns:a="http://schemas.openxmlformats.org/drawingml/2006/main">
              <a:ext uri="{FF2B5EF4-FFF2-40B4-BE49-F238E27FC236}">
                <a16:creationId xmlns:a16="http://schemas.microsoft.com/office/drawing/2014/main" id="{290EBFC3-5B76-4B5C-B194-471F37FEF68D}"/>
              </a:ext>
            </a:extLst>
          </p:cNvPr>
          <p:cNvSpPr>
            <a:spLocks xmlns:a="http://schemas.openxmlformats.org/drawingml/2006/main" noGrp="1"/>
          </p:cNvSpPr>
          <p:nvPr/>
        </p:nvSpPr>
        <p:spPr>
          <a:xfrm xmlns:a="http://schemas.openxmlformats.org/drawingml/2006/main">
            <a:off x="457200" y="628650"/>
            <a:ext cx="110966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925" b="1">
                <a:solidFill>
                  <a:srgbClr val="101114"/>
                </a:solidFill>
                <a:latin typeface="Arial"/>
                <a:ea typeface="Arial"/>
                <a:cs typeface="Arial"/>
              </a:defRPr>
            </a:pPr>
            <a:r>
              <a:rPr sz="2925" b="1">
                <a:solidFill>
                  <a:srgbClr val="101114"/>
                </a:solidFill>
                <a:latin typeface="Arial"/>
                <a:ea typeface="Arial"/>
                <a:cs typeface="Arial"/>
              </a:rPr>
              <a:t>The complete workflow is ready to demonstrate</a:t>
            </a:r>
          </a:p>
        </p:txBody>
      </p:sp>
      <p:sp>
        <p:nvSpPr>
          <p:cNvPr id="3" name="">
            <a:extLst xmlns:a="http://schemas.openxmlformats.org/drawingml/2006/main">
              <a:ext uri="{FF2B5EF4-FFF2-40B4-BE49-F238E27FC236}">
                <a16:creationId xmlns:a16="http://schemas.microsoft.com/office/drawing/2014/main" id="{E67D2311-716F-4950-8CF1-43E2D37BED69}"/>
              </a:ext>
            </a:extLst>
          </p:cNvPr>
          <p:cNvSpPr>
            <a:spLocks xmlns:a="http://schemas.openxmlformats.org/drawingml/2006/main" noGrp="1"/>
          </p:cNvSpPr>
          <p:nvPr/>
        </p:nvSpPr>
        <p:spPr>
          <a:xfrm xmlns:a="http://schemas.openxmlformats.org/drawingml/2006/main">
            <a:off x="457200" y="1495425"/>
            <a:ext cx="11277600" cy="190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94EF7DB-8080-4C19-8217-BF01AB2C3B86}"/>
              </a:ext>
            </a:extLst>
          </p:cNvPr>
          <p:cNvSpPr>
            <a:spLocks xmlns:a="http://schemas.openxmlformats.org/drawingml/2006/main" noGrp="1"/>
          </p:cNvSpPr>
          <p:nvPr/>
        </p:nvSpPr>
        <p:spPr>
          <a:xfrm xmlns:a="http://schemas.openxmlformats.org/drawingml/2006/main">
            <a:off x="457200" y="6496050"/>
            <a:ext cx="4953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l">
              <a:defRPr sz="900" b="0">
                <a:solidFill>
                  <a:srgbClr val="5E6673"/>
                </a:solidFill>
                <a:latin typeface="Arial"/>
                <a:ea typeface="Arial"/>
                <a:cs typeface="Arial"/>
              </a:defRPr>
            </a:pPr>
            <a:r>
              <a:rPr sz="900" b="0">
                <a:solidFill>
                  <a:srgbClr val="5E6673"/>
                </a:solidFill>
                <a:latin typeface="Arial"/>
                <a:ea typeface="Arial"/>
                <a:cs typeface="Arial"/>
              </a:rPr>
              <a:t>Navneet Kang  |  MLOps assignment</a:t>
            </a:r>
          </a:p>
        </p:txBody>
      </p:sp>
      <p:sp>
        <p:nvSpPr>
          <p:cNvPr id="5" name="">
            <a:extLst xmlns:a="http://schemas.openxmlformats.org/drawingml/2006/main">
              <a:ext uri="{FF2B5EF4-FFF2-40B4-BE49-F238E27FC236}">
                <a16:creationId xmlns:a16="http://schemas.microsoft.com/office/drawing/2014/main" id="{A7B295F7-4D64-4F16-8529-C73172FEF241}"/>
              </a:ext>
            </a:extLst>
          </p:cNvPr>
          <p:cNvSpPr>
            <a:spLocks xmlns:a="http://schemas.openxmlformats.org/drawingml/2006/main" noGrp="1"/>
          </p:cNvSpPr>
          <p:nvPr/>
        </p:nvSpPr>
        <p:spPr>
          <a:xfrm xmlns:a="http://schemas.openxmlformats.org/drawingml/2006/main">
            <a:off x="11277600" y="6496050"/>
            <a:ext cx="4572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58333"/>
          </a:bodyPr>
          <a:lstStyle xmlns:a="http://schemas.openxmlformats.org/drawingml/2006/main"/>
          <a:p xmlns:a="http://schemas.openxmlformats.org/drawingml/2006/main">
            <a:pPr algn="r">
              <a:defRPr sz="900" b="0">
                <a:solidFill>
                  <a:srgbClr val="5E6673"/>
                </a:solidFill>
                <a:latin typeface="Arial"/>
                <a:ea typeface="Arial"/>
                <a:cs typeface="Arial"/>
              </a:defRPr>
            </a:pPr>
            <a:r>
              <a:rPr sz="900" b="0">
                <a:solidFill>
                  <a:srgbClr val="5E6673"/>
                </a:solidFill>
                <a:latin typeface="Arial"/>
                <a:ea typeface="Arial"/>
                <a:cs typeface="Arial"/>
              </a:rPr>
              <a:t>9</a:t>
            </a:r>
          </a:p>
        </p:txBody>
      </p:sp>
      <p:sp>
        <p:nvSpPr>
          <p:cNvPr id="6" name="">
            <a:extLst xmlns:a="http://schemas.openxmlformats.org/drawingml/2006/main">
              <a:ext uri="{FF2B5EF4-FFF2-40B4-BE49-F238E27FC236}">
                <a16:creationId xmlns:a16="http://schemas.microsoft.com/office/drawing/2014/main" id="{8B4C1BC7-AF19-4B95-A5DC-521155240705}"/>
              </a:ext>
            </a:extLst>
          </p:cNvPr>
          <p:cNvSpPr>
            <a:spLocks xmlns:a="http://schemas.openxmlformats.org/drawingml/2006/main" noGrp="1"/>
          </p:cNvSpPr>
          <p:nvPr/>
        </p:nvSpPr>
        <p:spPr>
          <a:xfrm xmlns:a="http://schemas.openxmlformats.org/drawingml/2006/main">
            <a:off x="457200" y="1952625"/>
            <a:ext cx="4857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667"/>
          </a:bodyPr>
          <a:lstStyle xmlns:a="http://schemas.openxmlformats.org/drawingml/2006/main"/>
          <a:p xmlns:a="http://schemas.openxmlformats.org/drawingml/2006/main">
            <a:pPr algn="l">
              <a:defRPr sz="1875" b="1">
                <a:solidFill>
                  <a:srgbClr val="3D8DFF"/>
                </a:solidFill>
                <a:latin typeface="Arial"/>
                <a:ea typeface="Arial"/>
                <a:cs typeface="Arial"/>
              </a:defRPr>
            </a:pPr>
            <a:r>
              <a:rPr sz="1875" b="1">
                <a:solidFill>
                  <a:srgbClr val="3D8DFF"/>
                </a:solidFill>
                <a:latin typeface="Arial"/>
                <a:ea typeface="Arial"/>
                <a:cs typeface="Arial"/>
              </a:rPr>
              <a:t>What I will demonstrate</a:t>
            </a:r>
          </a:p>
        </p:txBody>
      </p:sp>
      <p:sp>
        <p:nvSpPr>
          <p:cNvPr id="7" name="">
            <a:extLst xmlns:a="http://schemas.openxmlformats.org/drawingml/2006/main">
              <a:ext uri="{FF2B5EF4-FFF2-40B4-BE49-F238E27FC236}">
                <a16:creationId xmlns:a16="http://schemas.microsoft.com/office/drawing/2014/main" id="{52B1E578-71D9-41BA-A7ED-C02E632A5939}"/>
              </a:ext>
            </a:extLst>
          </p:cNvPr>
          <p:cNvSpPr>
            <a:spLocks xmlns:a="http://schemas.openxmlformats.org/drawingml/2006/main" noGrp="1"/>
          </p:cNvSpPr>
          <p:nvPr/>
        </p:nvSpPr>
        <p:spPr>
          <a:xfrm xmlns:a="http://schemas.openxmlformats.org/drawingml/2006/main">
            <a:off x="457200" y="2495550"/>
            <a:ext cx="34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2"/>
          </a:bodyPr>
          <a:lstStyle xmlns:a="http://schemas.openxmlformats.org/drawingml/2006/main"/>
          <a:p xmlns:a="http://schemas.openxmlformats.org/drawingml/2006/main">
            <a:pPr algn="l">
              <a:defRPr sz="1875" b="1">
                <a:solidFill>
                  <a:srgbClr val="16834B"/>
                </a:solidFill>
                <a:latin typeface="Arial"/>
                <a:ea typeface="Arial"/>
                <a:cs typeface="Arial"/>
              </a:defRPr>
            </a:pPr>
            <a:r>
              <a:rPr sz="1875" b="1">
                <a:solidFill>
                  <a:srgbClr val="16834B"/>
                </a:solidFill>
                <a:latin typeface="Arial"/>
                <a:ea typeface="Arial"/>
                <a:cs typeface="Arial"/>
              </a:rPr>
              <a:t>✓</a:t>
            </a:r>
          </a:p>
        </p:txBody>
      </p:sp>
      <p:sp>
        <p:nvSpPr>
          <p:cNvPr id="8" name="">
            <a:extLst xmlns:a="http://schemas.openxmlformats.org/drawingml/2006/main">
              <a:ext uri="{FF2B5EF4-FFF2-40B4-BE49-F238E27FC236}">
                <a16:creationId xmlns:a16="http://schemas.microsoft.com/office/drawing/2014/main" id="{6C0A9636-49C4-431C-A8D9-85F4F2C86ACD}"/>
              </a:ext>
            </a:extLst>
          </p:cNvPr>
          <p:cNvSpPr>
            <a:spLocks xmlns:a="http://schemas.openxmlformats.org/drawingml/2006/main" noGrp="1"/>
          </p:cNvSpPr>
          <p:nvPr/>
        </p:nvSpPr>
        <p:spPr>
          <a:xfrm xmlns:a="http://schemas.openxmlformats.org/drawingml/2006/main">
            <a:off x="876300" y="249555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114"/>
                </a:solidFill>
                <a:latin typeface="Arial"/>
                <a:ea typeface="Arial"/>
                <a:cs typeface="Arial"/>
              </a:defRPr>
            </a:pPr>
            <a:r>
              <a:rPr sz="1500" b="0">
                <a:solidFill>
                  <a:srgbClr val="101114"/>
                </a:solidFill>
                <a:latin typeface="Arial"/>
                <a:ea typeface="Arial"/>
                <a:cs typeface="Arial"/>
              </a:rPr>
              <a:t>Green CI and deployment jobs</a:t>
            </a:r>
          </a:p>
        </p:txBody>
      </p:sp>
      <p:sp>
        <p:nvSpPr>
          <p:cNvPr id="9" name="">
            <a:extLst xmlns:a="http://schemas.openxmlformats.org/drawingml/2006/main">
              <a:ext uri="{FF2B5EF4-FFF2-40B4-BE49-F238E27FC236}">
                <a16:creationId xmlns:a16="http://schemas.microsoft.com/office/drawing/2014/main" id="{294F605E-E1D2-4F03-A7A2-9EAD2D6AAEE0}"/>
              </a:ext>
            </a:extLst>
          </p:cNvPr>
          <p:cNvSpPr>
            <a:spLocks xmlns:a="http://schemas.openxmlformats.org/drawingml/2006/main" noGrp="1"/>
          </p:cNvSpPr>
          <p:nvPr/>
        </p:nvSpPr>
        <p:spPr>
          <a:xfrm xmlns:a="http://schemas.openxmlformats.org/drawingml/2006/main">
            <a:off x="457200" y="3086100"/>
            <a:ext cx="34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2"/>
          </a:bodyPr>
          <a:lstStyle xmlns:a="http://schemas.openxmlformats.org/drawingml/2006/main"/>
          <a:p xmlns:a="http://schemas.openxmlformats.org/drawingml/2006/main">
            <a:pPr algn="l">
              <a:defRPr sz="1875" b="1">
                <a:solidFill>
                  <a:srgbClr val="16834B"/>
                </a:solidFill>
                <a:latin typeface="Arial"/>
                <a:ea typeface="Arial"/>
                <a:cs typeface="Arial"/>
              </a:defRPr>
            </a:pPr>
            <a:r>
              <a:rPr sz="1875" b="1">
                <a:solidFill>
                  <a:srgbClr val="16834B"/>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1BA90EB0-92E7-447D-8071-EAE18C0C7F22}"/>
              </a:ext>
            </a:extLst>
          </p:cNvPr>
          <p:cNvSpPr>
            <a:spLocks xmlns:a="http://schemas.openxmlformats.org/drawingml/2006/main" noGrp="1"/>
          </p:cNvSpPr>
          <p:nvPr/>
        </p:nvSpPr>
        <p:spPr>
          <a:xfrm xmlns:a="http://schemas.openxmlformats.org/drawingml/2006/main">
            <a:off x="876300" y="30861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114"/>
                </a:solidFill>
                <a:latin typeface="Arial"/>
                <a:ea typeface="Arial"/>
                <a:cs typeface="Arial"/>
              </a:defRPr>
            </a:pPr>
            <a:r>
              <a:rPr sz="1500" b="0">
                <a:solidFill>
                  <a:srgbClr val="101114"/>
                </a:solidFill>
                <a:latin typeface="Arial"/>
                <a:ea typeface="Arial"/>
                <a:cs typeface="Arial"/>
              </a:rPr>
              <a:t>Commit SHA matches the running image tag</a:t>
            </a:r>
          </a:p>
        </p:txBody>
      </p:sp>
      <p:sp>
        <p:nvSpPr>
          <p:cNvPr id="11" name="">
            <a:extLst xmlns:a="http://schemas.openxmlformats.org/drawingml/2006/main">
              <a:ext uri="{FF2B5EF4-FFF2-40B4-BE49-F238E27FC236}">
                <a16:creationId xmlns:a16="http://schemas.microsoft.com/office/drawing/2014/main" id="{1878F001-0B8A-4AC1-9A06-9E077CDDB00A}"/>
              </a:ext>
            </a:extLst>
          </p:cNvPr>
          <p:cNvSpPr>
            <a:spLocks xmlns:a="http://schemas.openxmlformats.org/drawingml/2006/main" noGrp="1"/>
          </p:cNvSpPr>
          <p:nvPr/>
        </p:nvSpPr>
        <p:spPr>
          <a:xfrm xmlns:a="http://schemas.openxmlformats.org/drawingml/2006/main">
            <a:off x="457200" y="3676650"/>
            <a:ext cx="34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2"/>
          </a:bodyPr>
          <a:lstStyle xmlns:a="http://schemas.openxmlformats.org/drawingml/2006/main"/>
          <a:p xmlns:a="http://schemas.openxmlformats.org/drawingml/2006/main">
            <a:pPr algn="l">
              <a:defRPr sz="1875" b="1">
                <a:solidFill>
                  <a:srgbClr val="16834B"/>
                </a:solidFill>
                <a:latin typeface="Arial"/>
                <a:ea typeface="Arial"/>
                <a:cs typeface="Arial"/>
              </a:defRPr>
            </a:pPr>
            <a:r>
              <a:rPr sz="1875" b="1">
                <a:solidFill>
                  <a:srgbClr val="16834B"/>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61A0DCA5-6E3C-4310-952D-56DE47155691}"/>
              </a:ext>
            </a:extLst>
          </p:cNvPr>
          <p:cNvSpPr>
            <a:spLocks xmlns:a="http://schemas.openxmlformats.org/drawingml/2006/main" noGrp="1"/>
          </p:cNvSpPr>
          <p:nvPr/>
        </p:nvSpPr>
        <p:spPr>
          <a:xfrm xmlns:a="http://schemas.openxmlformats.org/drawingml/2006/main">
            <a:off x="876300" y="367665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114"/>
                </a:solidFill>
                <a:latin typeface="Arial"/>
                <a:ea typeface="Arial"/>
                <a:cs typeface="Arial"/>
              </a:defRPr>
            </a:pPr>
            <a:r>
              <a:rPr sz="1500" b="0">
                <a:solidFill>
                  <a:srgbClr val="101114"/>
                </a:solidFill>
                <a:latin typeface="Arial"/>
                <a:ea typeface="Arial"/>
                <a:cs typeface="Arial"/>
              </a:rPr>
              <a:t>Healthy API with the model loaded</a:t>
            </a:r>
          </a:p>
        </p:txBody>
      </p:sp>
      <p:sp>
        <p:nvSpPr>
          <p:cNvPr id="13" name="">
            <a:extLst xmlns:a="http://schemas.openxmlformats.org/drawingml/2006/main">
              <a:ext uri="{FF2B5EF4-FFF2-40B4-BE49-F238E27FC236}">
                <a16:creationId xmlns:a16="http://schemas.microsoft.com/office/drawing/2014/main" id="{F70835B9-8CAF-453A-B84D-878C99E93BE4}"/>
              </a:ext>
            </a:extLst>
          </p:cNvPr>
          <p:cNvSpPr>
            <a:spLocks xmlns:a="http://schemas.openxmlformats.org/drawingml/2006/main" noGrp="1"/>
          </p:cNvSpPr>
          <p:nvPr/>
        </p:nvSpPr>
        <p:spPr>
          <a:xfrm xmlns:a="http://schemas.openxmlformats.org/drawingml/2006/main">
            <a:off x="457200" y="4267200"/>
            <a:ext cx="34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2"/>
          </a:bodyPr>
          <a:lstStyle xmlns:a="http://schemas.openxmlformats.org/drawingml/2006/main"/>
          <a:p xmlns:a="http://schemas.openxmlformats.org/drawingml/2006/main">
            <a:pPr algn="l">
              <a:defRPr sz="1875" b="1">
                <a:solidFill>
                  <a:srgbClr val="16834B"/>
                </a:solidFill>
                <a:latin typeface="Arial"/>
                <a:ea typeface="Arial"/>
                <a:cs typeface="Arial"/>
              </a:defRPr>
            </a:pPr>
            <a:r>
              <a:rPr sz="1875" b="1">
                <a:solidFill>
                  <a:srgbClr val="16834B"/>
                </a:solidFill>
                <a:latin typeface="Arial"/>
                <a:ea typeface="Arial"/>
                <a:cs typeface="Arial"/>
              </a:rPr>
              <a:t>✓</a:t>
            </a:r>
          </a:p>
        </p:txBody>
      </p:sp>
      <p:sp>
        <p:nvSpPr>
          <p:cNvPr id="14" name="">
            <a:extLst xmlns:a="http://schemas.openxmlformats.org/drawingml/2006/main">
              <a:ext uri="{FF2B5EF4-FFF2-40B4-BE49-F238E27FC236}">
                <a16:creationId xmlns:a16="http://schemas.microsoft.com/office/drawing/2014/main" id="{A27E5DCB-EFFB-4A6E-907D-E72C0AD2DFA7}"/>
              </a:ext>
            </a:extLst>
          </p:cNvPr>
          <p:cNvSpPr>
            <a:spLocks xmlns:a="http://schemas.openxmlformats.org/drawingml/2006/main" noGrp="1"/>
          </p:cNvSpPr>
          <p:nvPr/>
        </p:nvSpPr>
        <p:spPr>
          <a:xfrm xmlns:a="http://schemas.openxmlformats.org/drawingml/2006/main">
            <a:off x="876300" y="426720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0">
                <a:solidFill>
                  <a:srgbClr val="101114"/>
                </a:solidFill>
                <a:latin typeface="Arial"/>
                <a:ea typeface="Arial"/>
                <a:cs typeface="Arial"/>
              </a:defRPr>
            </a:pPr>
            <a:r>
              <a:rPr sz="1500" b="0">
                <a:solidFill>
                  <a:srgbClr val="101114"/>
                </a:solidFill>
                <a:latin typeface="Arial"/>
                <a:ea typeface="Arial"/>
                <a:cs typeface="Arial"/>
              </a:rPr>
              <a:t>Live image prediction through /predict</a:t>
            </a:r>
          </a:p>
        </p:txBody>
      </p:sp>
      <p:sp>
        <p:nvSpPr>
          <p:cNvPr id="15" name="">
            <a:extLst xmlns:a="http://schemas.openxmlformats.org/drawingml/2006/main">
              <a:ext uri="{FF2B5EF4-FFF2-40B4-BE49-F238E27FC236}">
                <a16:creationId xmlns:a16="http://schemas.microsoft.com/office/drawing/2014/main" id="{D6B7B86B-C57F-4D10-8218-CEB389149F2B}"/>
              </a:ext>
            </a:extLst>
          </p:cNvPr>
          <p:cNvSpPr>
            <a:spLocks xmlns:a="http://schemas.openxmlformats.org/drawingml/2006/main" noGrp="1"/>
          </p:cNvSpPr>
          <p:nvPr/>
        </p:nvSpPr>
        <p:spPr>
          <a:xfrm xmlns:a="http://schemas.openxmlformats.org/drawingml/2006/main">
            <a:off x="457200" y="4857750"/>
            <a:ext cx="342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2"/>
          </a:bodyPr>
          <a:lstStyle xmlns:a="http://schemas.openxmlformats.org/drawingml/2006/main"/>
          <a:p xmlns:a="http://schemas.openxmlformats.org/drawingml/2006/main">
            <a:pPr algn="l">
              <a:defRPr sz="1875" b="1">
                <a:solidFill>
                  <a:srgbClr val="16834B"/>
                </a:solidFill>
                <a:latin typeface="Arial"/>
                <a:ea typeface="Arial"/>
                <a:cs typeface="Arial"/>
              </a:defRPr>
            </a:pPr>
            <a:r>
              <a:rPr sz="1875" b="1">
                <a:solidFill>
                  <a:srgbClr val="16834B"/>
                </a:solidFill>
                <a:latin typeface="Arial"/>
                <a:ea typeface="Arial"/>
                <a:cs typeface="Arial"/>
              </a:rPr>
              <a:t>✓</a:t>
            </a:r>
          </a:p>
        </p:txBody>
      </p:sp>
      <p:sp>
        <p:nvSpPr>
          <p:cNvPr id="16" name="">
            <a:extLst xmlns:a="http://schemas.openxmlformats.org/drawingml/2006/main">
              <a:ext uri="{FF2B5EF4-FFF2-40B4-BE49-F238E27FC236}">
                <a16:creationId xmlns:a16="http://schemas.microsoft.com/office/drawing/2014/main" id="{37C2984E-B29B-4DBC-8D3D-FD0A5C8BD722}"/>
              </a:ext>
            </a:extLst>
          </p:cNvPr>
          <p:cNvSpPr>
            <a:spLocks xmlns:a="http://schemas.openxmlformats.org/drawingml/2006/main" noGrp="1"/>
          </p:cNvSpPr>
          <p:nvPr/>
        </p:nvSpPr>
        <p:spPr>
          <a:xfrm xmlns:a="http://schemas.openxmlformats.org/drawingml/2006/main">
            <a:off x="876300" y="485775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642"/>
          </a:bodyPr>
          <a:lstStyle xmlns:a="http://schemas.openxmlformats.org/drawingml/2006/main"/>
          <a:p xmlns:a="http://schemas.openxmlformats.org/drawingml/2006/main">
            <a:pPr algn="l">
              <a:defRPr sz="1500" b="0">
                <a:solidFill>
                  <a:srgbClr val="101114"/>
                </a:solidFill>
                <a:latin typeface="Arial"/>
                <a:ea typeface="Arial"/>
                <a:cs typeface="Arial"/>
              </a:defRPr>
            </a:pPr>
            <a:r>
              <a:rPr sz="1500" b="0">
                <a:solidFill>
                  <a:srgbClr val="101114"/>
                </a:solidFill>
                <a:latin typeface="Arial"/>
                <a:ea typeface="Arial"/>
                <a:cs typeface="Arial"/>
              </a:rPr>
              <a:t>Prometheus metrics and post-deployment evaluation</a:t>
            </a:r>
          </a:p>
        </p:txBody>
      </p:sp>
      <p:sp>
        <p:nvSpPr>
          <p:cNvPr id="17" name="">
            <a:extLst xmlns:a="http://schemas.openxmlformats.org/drawingml/2006/main">
              <a:ext uri="{FF2B5EF4-FFF2-40B4-BE49-F238E27FC236}">
                <a16:creationId xmlns:a16="http://schemas.microsoft.com/office/drawing/2014/main" id="{73DAFF0A-4127-460E-B4D7-C1A45B661C2A}"/>
              </a:ext>
            </a:extLst>
          </p:cNvPr>
          <p:cNvSpPr>
            <a:spLocks xmlns:a="http://schemas.openxmlformats.org/drawingml/2006/main" noGrp="1"/>
          </p:cNvSpPr>
          <p:nvPr/>
        </p:nvSpPr>
        <p:spPr>
          <a:xfrm xmlns:a="http://schemas.openxmlformats.org/drawingml/2006/main">
            <a:off x="6096000" y="1952625"/>
            <a:ext cx="5486400" cy="3333750"/>
          </a:xfrm>
          <a:prstGeom xmlns:a="http://schemas.openxmlformats.org/drawingml/2006/main" prst="rect">
            <a:avLst/>
          </a:prstGeom>
          <a:solidFill xmlns:a="http://schemas.openxmlformats.org/drawingml/2006/main">
            <a:srgbClr val="F7F8FA"/>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70764025-5FA2-49ED-BFBA-B51B9FA16934}"/>
              </a:ext>
            </a:extLst>
          </p:cNvPr>
          <p:cNvSpPr>
            <a:spLocks xmlns:a="http://schemas.openxmlformats.org/drawingml/2006/main" noGrp="1"/>
          </p:cNvSpPr>
          <p:nvPr/>
        </p:nvSpPr>
        <p:spPr>
          <a:xfrm xmlns:a="http://schemas.openxmlformats.org/drawingml/2006/main">
            <a:off x="6419850" y="223837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p xmlns:a="http://schemas.openxmlformats.org/drawingml/2006/main">
            <a:pPr algn="l">
              <a:defRPr sz="2100" b="1">
                <a:solidFill>
                  <a:srgbClr val="101114"/>
                </a:solidFill>
                <a:latin typeface="Arial"/>
                <a:ea typeface="Arial"/>
                <a:cs typeface="Arial"/>
              </a:defRPr>
            </a:pPr>
            <a:r>
              <a:rPr sz="2100" b="1">
                <a:solidFill>
                  <a:srgbClr val="101114"/>
                </a:solidFill>
                <a:latin typeface="Arial"/>
                <a:ea typeface="Arial"/>
                <a:cs typeface="Arial"/>
              </a:rPr>
              <a:t>Next improvements</a:t>
            </a:r>
          </a:p>
        </p:txBody>
      </p:sp>
      <p:sp>
        <p:nvSpPr>
          <p:cNvPr id="19" name="">
            <a:extLst xmlns:a="http://schemas.openxmlformats.org/drawingml/2006/main">
              <a:ext uri="{FF2B5EF4-FFF2-40B4-BE49-F238E27FC236}">
                <a16:creationId xmlns:a16="http://schemas.microsoft.com/office/drawing/2014/main" id="{A4718271-A458-4C63-AE8F-4BC0A36435E6}"/>
              </a:ext>
            </a:extLst>
          </p:cNvPr>
          <p:cNvSpPr>
            <a:spLocks xmlns:a="http://schemas.openxmlformats.org/drawingml/2006/main" noGrp="1"/>
          </p:cNvSpPr>
          <p:nvPr/>
        </p:nvSpPr>
        <p:spPr>
          <a:xfrm xmlns:a="http://schemas.openxmlformats.org/drawingml/2006/main">
            <a:off x="6419850" y="295275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382"/>
          </a:bodyPr>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a:t>
            </a:r>
          </a:p>
        </p:txBody>
      </p:sp>
      <p:sp>
        <p:nvSpPr>
          <p:cNvPr id="20" name="">
            <a:extLst xmlns:a="http://schemas.openxmlformats.org/drawingml/2006/main">
              <a:ext uri="{FF2B5EF4-FFF2-40B4-BE49-F238E27FC236}">
                <a16:creationId xmlns:a16="http://schemas.microsoft.com/office/drawing/2014/main" id="{8ABF8EBF-0835-4389-8D54-A0ABC37B6B7B}"/>
              </a:ext>
            </a:extLst>
          </p:cNvPr>
          <p:cNvSpPr>
            <a:spLocks xmlns:a="http://schemas.openxmlformats.org/drawingml/2006/main" noGrp="1"/>
          </p:cNvSpPr>
          <p:nvPr/>
        </p:nvSpPr>
        <p:spPr>
          <a:xfrm xmlns:a="http://schemas.openxmlformats.org/drawingml/2006/main">
            <a:off x="6705600" y="295275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368"/>
          </a:bodyPr>
          <a:lstStyle xmlns:a="http://schemas.openxmlformats.org/drawingml/2006/main"/>
          <a:p xmlns:a="http://schemas.openxmlformats.org/drawingml/2006/main">
            <a:pPr algn="l">
              <a:defRPr sz="1425" b="0">
                <a:solidFill>
                  <a:srgbClr val="101114"/>
                </a:solidFill>
                <a:latin typeface="Arial"/>
                <a:ea typeface="Arial"/>
                <a:cs typeface="Arial"/>
              </a:defRPr>
            </a:pPr>
            <a:r>
              <a:rPr sz="1425" b="0">
                <a:solidFill>
                  <a:srgbClr val="101114"/>
                </a:solidFill>
                <a:latin typeface="Arial"/>
                <a:ea typeface="Arial"/>
                <a:cs typeface="Arial"/>
              </a:rPr>
              <a:t>Replace the linear baseline with transfer learning or a CNN</a:t>
            </a:r>
          </a:p>
        </p:txBody>
      </p:sp>
      <p:sp>
        <p:nvSpPr>
          <p:cNvPr id="21" name="">
            <a:extLst xmlns:a="http://schemas.openxmlformats.org/drawingml/2006/main">
              <a:ext uri="{FF2B5EF4-FFF2-40B4-BE49-F238E27FC236}">
                <a16:creationId xmlns:a16="http://schemas.microsoft.com/office/drawing/2014/main" id="{16F931A5-34CD-4BE8-B92D-EE84F4501D0C}"/>
              </a:ext>
            </a:extLst>
          </p:cNvPr>
          <p:cNvSpPr>
            <a:spLocks xmlns:a="http://schemas.openxmlformats.org/drawingml/2006/main" noGrp="1"/>
          </p:cNvSpPr>
          <p:nvPr/>
        </p:nvSpPr>
        <p:spPr>
          <a:xfrm xmlns:a="http://schemas.openxmlformats.org/drawingml/2006/main">
            <a:off x="6419850" y="352425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382"/>
          </a:bodyPr>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a:t>
            </a:r>
          </a:p>
        </p:txBody>
      </p:sp>
      <p:sp>
        <p:nvSpPr>
          <p:cNvPr id="22" name="">
            <a:extLst xmlns:a="http://schemas.openxmlformats.org/drawingml/2006/main">
              <a:ext uri="{FF2B5EF4-FFF2-40B4-BE49-F238E27FC236}">
                <a16:creationId xmlns:a16="http://schemas.microsoft.com/office/drawing/2014/main" id="{54440F38-AF1E-431B-9015-1700DA704B6F}"/>
              </a:ext>
            </a:extLst>
          </p:cNvPr>
          <p:cNvSpPr>
            <a:spLocks xmlns:a="http://schemas.openxmlformats.org/drawingml/2006/main" noGrp="1"/>
          </p:cNvSpPr>
          <p:nvPr/>
        </p:nvSpPr>
        <p:spPr>
          <a:xfrm xmlns:a="http://schemas.openxmlformats.org/drawingml/2006/main">
            <a:off x="6705600" y="352425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101114"/>
                </a:solidFill>
                <a:latin typeface="Arial"/>
                <a:ea typeface="Arial"/>
                <a:cs typeface="Arial"/>
              </a:defRPr>
            </a:pPr>
            <a:r>
              <a:rPr sz="1425" b="0">
                <a:solidFill>
                  <a:srgbClr val="101114"/>
                </a:solidFill>
                <a:latin typeface="Arial"/>
                <a:ea typeface="Arial"/>
                <a:cs typeface="Arial"/>
              </a:rPr>
              <a:t>Increase API and failure-path test coverage</a:t>
            </a:r>
          </a:p>
        </p:txBody>
      </p:sp>
      <p:sp>
        <p:nvSpPr>
          <p:cNvPr id="23" name="">
            <a:extLst xmlns:a="http://schemas.openxmlformats.org/drawingml/2006/main">
              <a:ext uri="{FF2B5EF4-FFF2-40B4-BE49-F238E27FC236}">
                <a16:creationId xmlns:a16="http://schemas.microsoft.com/office/drawing/2014/main" id="{E2C7DD2B-2258-43B4-8AA7-735AD65C773C}"/>
              </a:ext>
            </a:extLst>
          </p:cNvPr>
          <p:cNvSpPr>
            <a:spLocks xmlns:a="http://schemas.openxmlformats.org/drawingml/2006/main" noGrp="1"/>
          </p:cNvSpPr>
          <p:nvPr/>
        </p:nvSpPr>
        <p:spPr>
          <a:xfrm xmlns:a="http://schemas.openxmlformats.org/drawingml/2006/main">
            <a:off x="6419850" y="409575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382"/>
          </a:bodyPr>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2BA7BEC8-FDFE-49CA-BC92-F9AECBBE66F2}"/>
              </a:ext>
            </a:extLst>
          </p:cNvPr>
          <p:cNvSpPr>
            <a:spLocks xmlns:a="http://schemas.openxmlformats.org/drawingml/2006/main" noGrp="1"/>
          </p:cNvSpPr>
          <p:nvPr/>
        </p:nvSpPr>
        <p:spPr>
          <a:xfrm xmlns:a="http://schemas.openxmlformats.org/drawingml/2006/main">
            <a:off x="6705600" y="409575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101114"/>
                </a:solidFill>
                <a:latin typeface="Arial"/>
                <a:ea typeface="Arial"/>
                <a:cs typeface="Arial"/>
              </a:defRPr>
            </a:pPr>
            <a:r>
              <a:rPr sz="1425" b="0">
                <a:solidFill>
                  <a:srgbClr val="101114"/>
                </a:solidFill>
                <a:latin typeface="Arial"/>
                <a:ea typeface="Arial"/>
                <a:cs typeface="Arial"/>
              </a:rPr>
              <a:t>Use a larger labeled production evaluation set</a:t>
            </a:r>
          </a:p>
        </p:txBody>
      </p:sp>
      <p:sp>
        <p:nvSpPr>
          <p:cNvPr id="25" name="">
            <a:extLst xmlns:a="http://schemas.openxmlformats.org/drawingml/2006/main">
              <a:ext uri="{FF2B5EF4-FFF2-40B4-BE49-F238E27FC236}">
                <a16:creationId xmlns:a16="http://schemas.microsoft.com/office/drawing/2014/main" id="{D00683DC-A059-4A3B-8F7C-D45FE9F72A4B}"/>
              </a:ext>
            </a:extLst>
          </p:cNvPr>
          <p:cNvSpPr>
            <a:spLocks xmlns:a="http://schemas.openxmlformats.org/drawingml/2006/main" noGrp="1"/>
          </p:cNvSpPr>
          <p:nvPr/>
        </p:nvSpPr>
        <p:spPr>
          <a:xfrm xmlns:a="http://schemas.openxmlformats.org/drawingml/2006/main">
            <a:off x="6419850" y="4667250"/>
            <a:ext cx="228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1382"/>
          </a:bodyPr>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a:t>
            </a:r>
          </a:p>
        </p:txBody>
      </p:sp>
      <p:sp>
        <p:nvSpPr>
          <p:cNvPr id="26" name="">
            <a:extLst xmlns:a="http://schemas.openxmlformats.org/drawingml/2006/main">
              <a:ext uri="{FF2B5EF4-FFF2-40B4-BE49-F238E27FC236}">
                <a16:creationId xmlns:a16="http://schemas.microsoft.com/office/drawing/2014/main" id="{3A21C402-8668-4634-BA2A-B5AC2B2F1603}"/>
              </a:ext>
            </a:extLst>
          </p:cNvPr>
          <p:cNvSpPr>
            <a:spLocks xmlns:a="http://schemas.openxmlformats.org/drawingml/2006/main" noGrp="1"/>
          </p:cNvSpPr>
          <p:nvPr/>
        </p:nvSpPr>
        <p:spPr>
          <a:xfrm xmlns:a="http://schemas.openxmlformats.org/drawingml/2006/main">
            <a:off x="6705600" y="4667250"/>
            <a:ext cx="4476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7368"/>
          </a:bodyPr>
          <a:lstStyle xmlns:a="http://schemas.openxmlformats.org/drawingml/2006/main"/>
          <a:p xmlns:a="http://schemas.openxmlformats.org/drawingml/2006/main">
            <a:pPr algn="l">
              <a:defRPr sz="1425" b="0">
                <a:solidFill>
                  <a:srgbClr val="101114"/>
                </a:solidFill>
                <a:latin typeface="Arial"/>
                <a:ea typeface="Arial"/>
                <a:cs typeface="Arial"/>
              </a:defRPr>
            </a:pPr>
            <a:r>
              <a:rPr sz="1425" b="0">
                <a:solidFill>
                  <a:srgbClr val="101114"/>
                </a:solidFill>
                <a:latin typeface="Arial"/>
                <a:ea typeface="Arial"/>
                <a:cs typeface="Arial"/>
              </a:rPr>
              <a:t>Clean dvc.lock and commit the post-deployment JSON artifact</a:t>
            </a:r>
          </a:p>
        </p:txBody>
      </p:sp>
      <p:sp>
        <p:nvSpPr>
          <p:cNvPr id="27" name="">
            <a:extLst xmlns:a="http://schemas.openxmlformats.org/drawingml/2006/main">
              <a:ext uri="{FF2B5EF4-FFF2-40B4-BE49-F238E27FC236}">
                <a16:creationId xmlns:a16="http://schemas.microsoft.com/office/drawing/2014/main" id="{8C6A9794-2207-44E2-B560-D72884AFB225}"/>
              </a:ext>
            </a:extLst>
          </p:cNvPr>
          <p:cNvSpPr>
            <a:spLocks xmlns:a="http://schemas.openxmlformats.org/drawingml/2006/main" noGrp="1"/>
          </p:cNvSpPr>
          <p:nvPr/>
        </p:nvSpPr>
        <p:spPr>
          <a:xfrm xmlns:a="http://schemas.openxmlformats.org/drawingml/2006/main">
            <a:off x="6096000" y="56388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702"/>
          </a:bodyPr>
          <a:lstStyle xmlns:a="http://schemas.openxmlformats.org/drawingml/2006/main"/>
          <a:p xmlns:a="http://schemas.openxmlformats.org/drawingml/2006/main">
            <a:pPr algn="l">
              <a:defRPr sz="1425" b="1">
                <a:solidFill>
                  <a:srgbClr val="3D8DFF"/>
                </a:solidFill>
                <a:latin typeface="Arial"/>
                <a:ea typeface="Arial"/>
                <a:cs typeface="Arial"/>
              </a:defRPr>
            </a:pPr>
            <a:r>
              <a:rPr sz="1425" b="1">
                <a:solidFill>
                  <a:srgbClr val="3D8DFF"/>
                </a:solidFill>
                <a:latin typeface="Arial"/>
                <a:ea typeface="Arial"/>
                <a:cs typeface="Arial"/>
              </a:rPr>
              <a:t>Conclusion</a:t>
            </a:r>
          </a:p>
        </p:txBody>
      </p:sp>
      <p:sp>
        <p:nvSpPr>
          <p:cNvPr id="28" name="">
            <a:extLst xmlns:a="http://schemas.openxmlformats.org/drawingml/2006/main">
              <a:ext uri="{FF2B5EF4-FFF2-40B4-BE49-F238E27FC236}">
                <a16:creationId xmlns:a16="http://schemas.microsoft.com/office/drawing/2014/main" id="{FC92897A-4BBF-41AE-BC84-1DEB171E43D9}"/>
              </a:ext>
            </a:extLst>
          </p:cNvPr>
          <p:cNvSpPr>
            <a:spLocks xmlns:a="http://schemas.openxmlformats.org/drawingml/2006/main" noGrp="1"/>
          </p:cNvSpPr>
          <p:nvPr/>
        </p:nvSpPr>
        <p:spPr>
          <a:xfrm xmlns:a="http://schemas.openxmlformats.org/drawingml/2006/main">
            <a:off x="7334250" y="5543550"/>
            <a:ext cx="42481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372"/>
          </a:bodyPr>
          <a:lstStyle xmlns:a="http://schemas.openxmlformats.org/drawingml/2006/main"/>
          <a:p xmlns:a="http://schemas.openxmlformats.org/drawingml/2006/main">
            <a:pPr algn="l">
              <a:defRPr sz="1500" b="1">
                <a:solidFill>
                  <a:srgbClr val="101114"/>
                </a:solidFill>
                <a:latin typeface="Arial"/>
                <a:ea typeface="Arial"/>
                <a:cs typeface="Arial"/>
              </a:defRPr>
            </a:pPr>
            <a:r>
              <a:rPr sz="1500" b="1">
                <a:solidFill>
                  <a:srgbClr val="101114"/>
                </a:solidFill>
                <a:latin typeface="Arial"/>
                <a:ea typeface="Arial"/>
                <a:cs typeface="Arial"/>
              </a:rPr>
              <a:t>The MLOps engineering workflow is complete and measurable; model quality is the next priority.</a:t>
            </a:r>
          </a:p>
        </p:txBody>
      </p:sp>
    </p:spTree>
    <p:extLst>
      <p:ext uri="{BB962C8B-B14F-4D97-AF65-F5344CB8AC3E}">
        <p14:creationId xmlns:p14="http://schemas.microsoft.com/office/powerpoint/2010/main" val="4281146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2026-08-30T19:03:02.3810000Z</dcterms:created>
  <dcterms:modified xsi:type="dcterms:W3CDTF">2026-08-30T19:03:02.3810000Z</dcterms:modified>
</coreProperties>
</file>